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97"/>
    <p:restoredTop sz="94610"/>
  </p:normalViewPr>
  <p:slideViewPr>
    <p:cSldViewPr snapToGrid="0" snapToObjects="1">
      <p:cViewPr varScale="1">
        <p:scale>
          <a:sx n="157" d="100"/>
          <a:sy n="157" d="100"/>
        </p:scale>
        <p:origin x="42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88774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7.png"/><Relationship Id="rId5" Type="http://schemas.openxmlformats.org/officeDocument/2006/relationships/image" Target="../media/image12.png"/><Relationship Id="rId10" Type="http://schemas.openxmlformats.org/officeDocument/2006/relationships/image" Target="../media/image15.png"/><Relationship Id="rId4" Type="http://schemas.openxmlformats.org/officeDocument/2006/relationships/image" Target="../media/image11.png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0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2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22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3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2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24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675120" y="320040"/>
            <a:ext cx="822960" cy="822960"/>
          </a:xfrm>
          <a:prstGeom prst="ellipse">
            <a:avLst/>
          </a:prstGeom>
          <a:solidFill>
            <a:srgbClr val="059669">
              <a:alpha val="45000"/>
            </a:srgbClr>
          </a:solidFill>
          <a:ln w="1524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680960" y="182880"/>
            <a:ext cx="548640" cy="548640"/>
          </a:xfrm>
          <a:prstGeom prst="ellipse">
            <a:avLst/>
          </a:prstGeom>
          <a:solidFill>
            <a:srgbClr val="0D9488">
              <a:alpha val="40000"/>
            </a:srgbClr>
          </a:solidFill>
          <a:ln w="1524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0" y="640080"/>
            <a:ext cx="694944" cy="694944"/>
          </a:xfrm>
          <a:prstGeom prst="ellipse">
            <a:avLst/>
          </a:prstGeom>
          <a:solidFill>
            <a:srgbClr val="10B981">
              <a:alpha val="35000"/>
            </a:srgbClr>
          </a:solidFill>
          <a:ln w="1524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223760" y="914400"/>
            <a:ext cx="585216" cy="585216"/>
          </a:xfrm>
          <a:prstGeom prst="ellipse">
            <a:avLst/>
          </a:prstGeom>
          <a:solidFill>
            <a:srgbClr val="34D399">
              <a:alpha val="30000"/>
            </a:srgbClr>
          </a:solidFill>
          <a:ln w="1524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412480" y="1371600"/>
            <a:ext cx="512064" cy="512064"/>
          </a:xfrm>
          <a:prstGeom prst="ellipse">
            <a:avLst/>
          </a:prstGeom>
          <a:solidFill>
            <a:srgbClr val="0D9488">
              <a:alpha val="35000"/>
            </a:srgbClr>
          </a:solidFill>
          <a:ln w="1524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086600" y="731520"/>
            <a:ext cx="868680" cy="0"/>
          </a:xfrm>
          <a:prstGeom prst="line">
            <a:avLst/>
          </a:prstGeom>
          <a:noFill/>
          <a:ln w="8890">
            <a:solidFill>
              <a:srgbClr val="34D399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955280" y="457200"/>
            <a:ext cx="621792" cy="530352"/>
          </a:xfrm>
          <a:prstGeom prst="line">
            <a:avLst/>
          </a:prstGeom>
          <a:noFill/>
          <a:ln w="8890">
            <a:solidFill>
              <a:srgbClr val="34D399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086600" y="731520"/>
            <a:ext cx="429768" cy="475488"/>
          </a:xfrm>
          <a:prstGeom prst="line">
            <a:avLst/>
          </a:prstGeom>
          <a:noFill/>
          <a:ln w="8890">
            <a:solidFill>
              <a:srgbClr val="34D399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577072" y="987552"/>
            <a:ext cx="91440" cy="640080"/>
          </a:xfrm>
          <a:prstGeom prst="line">
            <a:avLst/>
          </a:prstGeom>
          <a:noFill/>
          <a:ln w="8890">
            <a:solidFill>
              <a:srgbClr val="34D399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516368" y="1207008"/>
            <a:ext cx="1152144" cy="420624"/>
          </a:xfrm>
          <a:prstGeom prst="line">
            <a:avLst/>
          </a:prstGeom>
          <a:noFill/>
          <a:ln w="8890">
            <a:solidFill>
              <a:srgbClr val="34D399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9128" y="384048"/>
            <a:ext cx="694944" cy="69494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65760" y="777240"/>
            <a:ext cx="5760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ScholarAI</a:t>
            </a:r>
            <a:endParaRPr lang="en-US" sz="5800" dirty="0"/>
          </a:p>
        </p:txBody>
      </p:sp>
      <p:sp>
        <p:nvSpPr>
          <p:cNvPr id="15" name="Text 12"/>
          <p:cNvSpPr/>
          <p:nvPr/>
        </p:nvSpPr>
        <p:spPr>
          <a:xfrm>
            <a:off x="365760" y="1783080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+ Multi-Agent Assistive Learning Platform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365760" y="2487168"/>
            <a:ext cx="502920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365760" y="260604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grounded GenAI system that closes the loop between quiz scores and personalized adaptive learning — using retrieval-augmented generation and multi-agent orchestration.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365760" y="3977640"/>
            <a:ext cx="1325880" cy="347472"/>
          </a:xfrm>
          <a:prstGeom prst="roundRect">
            <a:avLst>
              <a:gd name="adj" fmla="val 21053"/>
            </a:avLst>
          </a:prstGeom>
          <a:solidFill>
            <a:srgbClr val="10B981">
              <a:alpha val="45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365760" y="3977640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1801368" y="3977640"/>
            <a:ext cx="1325880" cy="347472"/>
          </a:xfrm>
          <a:prstGeom prst="roundRect">
            <a:avLst>
              <a:gd name="adj" fmla="val 21053"/>
            </a:avLst>
          </a:prstGeom>
          <a:solidFill>
            <a:srgbClr val="0D9488">
              <a:alpha val="45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1801368" y="3977640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3236976" y="3977640"/>
            <a:ext cx="1325880" cy="347472"/>
          </a:xfrm>
          <a:prstGeom prst="roundRect">
            <a:avLst>
              <a:gd name="adj" fmla="val 21053"/>
            </a:avLst>
          </a:prstGeom>
          <a:solidFill>
            <a:srgbClr val="3B82F6">
              <a:alpha val="45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3236976" y="3977640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672584" y="3977640"/>
            <a:ext cx="1325880" cy="347472"/>
          </a:xfrm>
          <a:prstGeom prst="roundRect">
            <a:avLst>
              <a:gd name="adj" fmla="val 21053"/>
            </a:avLst>
          </a:prstGeom>
          <a:solidFill>
            <a:srgbClr val="8B5CF6">
              <a:alpha val="45000"/>
            </a:srgbClr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4672584" y="3977640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EdTech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108192" y="3977640"/>
            <a:ext cx="1325880" cy="347472"/>
          </a:xfrm>
          <a:prstGeom prst="roundRect">
            <a:avLst>
              <a:gd name="adj" fmla="val 21053"/>
            </a:avLst>
          </a:prstGeom>
          <a:solidFill>
            <a:srgbClr val="F59E0B">
              <a:alpha val="45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6108192" y="3977640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7543800" y="3977640"/>
            <a:ext cx="1325880" cy="347472"/>
          </a:xfrm>
          <a:prstGeom prst="roundRect">
            <a:avLst>
              <a:gd name="adj" fmla="val 21053"/>
            </a:avLst>
          </a:prstGeom>
          <a:solidFill>
            <a:srgbClr val="059669">
              <a:alpha val="45000"/>
            </a:srgbClr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7543800" y="3977640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0" y="4736592"/>
            <a:ext cx="9144000" cy="402336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182880" y="475488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1371600" y="4928616"/>
            <a:ext cx="91440" cy="0"/>
          </a:xfrm>
          <a:prstGeom prst="line">
            <a:avLst/>
          </a:prstGeom>
          <a:noFill/>
          <a:ln w="1016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1463040" y="475488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2651760" y="4928616"/>
            <a:ext cx="91440" cy="0"/>
          </a:xfrm>
          <a:prstGeom prst="line">
            <a:avLst/>
          </a:prstGeom>
          <a:noFill/>
          <a:ln w="1016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2743200" y="475488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3931920" y="4928616"/>
            <a:ext cx="91440" cy="0"/>
          </a:xfrm>
          <a:prstGeom prst="line">
            <a:avLst/>
          </a:prstGeom>
          <a:noFill/>
          <a:ln w="1016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4023360" y="475488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5212080" y="4928616"/>
            <a:ext cx="91440" cy="0"/>
          </a:xfrm>
          <a:prstGeom prst="line">
            <a:avLst/>
          </a:prstGeom>
          <a:noFill/>
          <a:ln w="1016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5303520" y="475488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6492240" y="4928616"/>
            <a:ext cx="91440" cy="0"/>
          </a:xfrm>
          <a:prstGeom prst="line">
            <a:avLst/>
          </a:prstGeom>
          <a:noFill/>
          <a:ln w="1016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6583680" y="475488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7772400" y="4928616"/>
            <a:ext cx="91440" cy="0"/>
          </a:xfrm>
          <a:prstGeom prst="line">
            <a:avLst/>
          </a:prstGeom>
          <a:noFill/>
          <a:ln w="1016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7863840" y="475488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76656"/>
            <a:ext cx="914400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56032" y="109728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059669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56032" y="10972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737360" y="91440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Does This Problem Matter?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0" y="4910328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ScholarAI  ·  RAG + Multi-Agent Learning Platform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0040" y="868680"/>
            <a:ext cx="2743200" cy="2176272"/>
          </a:xfrm>
          <a:prstGeom prst="rect">
            <a:avLst/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" y="914400"/>
            <a:ext cx="2743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 = 0.05</a:t>
            </a:r>
            <a:endParaRPr lang="en-US" sz="3800" dirty="0"/>
          </a:p>
        </p:txBody>
      </p:sp>
      <p:sp>
        <p:nvSpPr>
          <p:cNvPr id="10" name="Shape 8"/>
          <p:cNvSpPr/>
          <p:nvPr/>
        </p:nvSpPr>
        <p:spPr>
          <a:xfrm>
            <a:off x="777240" y="1645920"/>
            <a:ext cx="1828800" cy="27432"/>
          </a:xfrm>
          <a:prstGeom prst="rect">
            <a:avLst/>
          </a:prstGeom>
          <a:solidFill>
            <a:srgbClr val="F59E0B">
              <a:alpha val="7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29768" y="1700784"/>
            <a:ext cx="252374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size of score-only feedback on learning — near zero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377440"/>
            <a:ext cx="2468880" cy="566928"/>
          </a:xfrm>
          <a:prstGeom prst="roundRect">
            <a:avLst>
              <a:gd name="adj" fmla="val 8065"/>
            </a:avLst>
          </a:prstGeom>
          <a:solidFill>
            <a:srgbClr val="0F172A"/>
          </a:solidFill>
          <a:ln w="8890">
            <a:solidFill>
              <a:srgbClr val="F59E0B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2377440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der Kleij et al., 2015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Computers &amp; Education (40 studies)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64408" y="868680"/>
            <a:ext cx="2743200" cy="2176272"/>
          </a:xfrm>
          <a:prstGeom prst="rect">
            <a:avLst/>
          </a:prstGeom>
          <a:solidFill>
            <a:srgbClr val="1E293B"/>
          </a:solidFill>
          <a:ln w="19050">
            <a:solidFill>
              <a:srgbClr val="EF4444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64408" y="914400"/>
            <a:ext cx="2743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14–18:1</a:t>
            </a:r>
            <a:endParaRPr lang="en-US" sz="3800" dirty="0"/>
          </a:p>
        </p:txBody>
      </p:sp>
      <p:sp>
        <p:nvSpPr>
          <p:cNvPr id="16" name="Shape 14"/>
          <p:cNvSpPr/>
          <p:nvPr/>
        </p:nvSpPr>
        <p:spPr>
          <a:xfrm>
            <a:off x="3721608" y="1645920"/>
            <a:ext cx="1828800" cy="27432"/>
          </a:xfrm>
          <a:prstGeom prst="rect">
            <a:avLst/>
          </a:prstGeom>
          <a:solidFill>
            <a:srgbClr val="EF4444">
              <a:alpha val="70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374136" y="1700784"/>
            <a:ext cx="252374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faculty-to-student ratio in U.S. higher education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401568" y="2377440"/>
            <a:ext cx="2468880" cy="566928"/>
          </a:xfrm>
          <a:prstGeom prst="roundRect">
            <a:avLst>
              <a:gd name="adj" fmla="val 8065"/>
            </a:avLst>
          </a:prstGeom>
          <a:solidFill>
            <a:srgbClr val="0F172A"/>
          </a:solidFill>
          <a:ln w="8890">
            <a:solidFill>
              <a:srgbClr val="EF4444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401568" y="2377440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Center for Education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(NCES), 2018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208776" y="868680"/>
            <a:ext cx="2743200" cy="2176272"/>
          </a:xfrm>
          <a:prstGeom prst="rect">
            <a:avLst/>
          </a:prstGeom>
          <a:solidFill>
            <a:srgbClr val="1E293B"/>
          </a:solidFill>
          <a:ln w="19050">
            <a:solidFill>
              <a:srgbClr val="34D399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208776" y="914400"/>
            <a:ext cx="2743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10×</a:t>
            </a:r>
            <a:endParaRPr lang="en-US" sz="3800" dirty="0"/>
          </a:p>
        </p:txBody>
      </p:sp>
      <p:sp>
        <p:nvSpPr>
          <p:cNvPr id="22" name="Shape 20"/>
          <p:cNvSpPr/>
          <p:nvPr/>
        </p:nvSpPr>
        <p:spPr>
          <a:xfrm>
            <a:off x="6665976" y="1645920"/>
            <a:ext cx="1828800" cy="27432"/>
          </a:xfrm>
          <a:prstGeom prst="rect">
            <a:avLst/>
          </a:prstGeom>
          <a:solidFill>
            <a:srgbClr val="34D399">
              <a:alpha val="70000"/>
            </a:srgbClr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318504" y="1700784"/>
            <a:ext cx="252374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effect size for elaborated feedback vs. score-only (d=0.49 vs. d=0.05)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45936" y="2377440"/>
            <a:ext cx="2468880" cy="566928"/>
          </a:xfrm>
          <a:prstGeom prst="roundRect">
            <a:avLst>
              <a:gd name="adj" fmla="val 8065"/>
            </a:avLst>
          </a:prstGeom>
          <a:solidFill>
            <a:srgbClr val="0F172A"/>
          </a:solidFill>
          <a:ln w="8890">
            <a:solidFill>
              <a:srgbClr val="34D399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345936" y="2377440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der Kleij et al., 2015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Computers &amp; Education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20040" y="301752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Core Pain Points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20040" y="3429000"/>
            <a:ext cx="2743200" cy="1371600"/>
          </a:xfrm>
          <a:prstGeom prst="rect">
            <a:avLst/>
          </a:prstGeom>
          <a:solidFill>
            <a:srgbClr val="0F172A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520440"/>
            <a:ext cx="502920" cy="502920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1005840" y="3456432"/>
            <a:ext cx="1938528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receive quiz scores but get no guided path to fix misconceptions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3264408" y="3429000"/>
            <a:ext cx="2743200" cy="1371600"/>
          </a:xfrm>
          <a:prstGeom prst="rect">
            <a:avLst/>
          </a:prstGeom>
          <a:solidFill>
            <a:srgbClr val="0F172A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5848" y="3520440"/>
            <a:ext cx="502920" cy="502920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3950208" y="3456432"/>
            <a:ext cx="1938528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Instructors cannot provide individual written feedback to every student after every quiz — the time cost makes it structurally impossible at scale</a:t>
            </a:r>
            <a:endParaRPr lang="en-US" sz="1100" dirty="0"/>
          </a:p>
        </p:txBody>
      </p:sp>
      <p:sp>
        <p:nvSpPr>
          <p:cNvPr id="33" name="Shape 29"/>
          <p:cNvSpPr/>
          <p:nvPr/>
        </p:nvSpPr>
        <p:spPr>
          <a:xfrm>
            <a:off x="6208776" y="3429000"/>
            <a:ext cx="2743200" cy="1371600"/>
          </a:xfrm>
          <a:prstGeom prst="rect">
            <a:avLst/>
          </a:prstGeom>
          <a:solidFill>
            <a:srgbClr val="0F172A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0216" y="3520440"/>
            <a:ext cx="502920" cy="502920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6894576" y="3456432"/>
            <a:ext cx="1938528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Off-the-shelf LLMs hallucinate or give generic answers not grounded in course content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76656"/>
            <a:ext cx="914400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56032" y="109728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059669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56032" y="10972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737360" y="91440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Others Are Doing — And Where They Fall Short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0" y="4910328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ScholarAI  ·  RAG + Multi-Agent Learning Platform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74320" y="914400"/>
            <a:ext cx="4206240" cy="1810512"/>
          </a:xfrm>
          <a:prstGeom prst="rect">
            <a:avLst/>
          </a:prstGeom>
          <a:solidFill>
            <a:srgbClr val="1E293B"/>
          </a:solidFill>
          <a:ln w="1524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4320" y="914400"/>
            <a:ext cx="64008" cy="181051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1051560"/>
            <a:ext cx="594360" cy="5943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70432" y="987552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Static LLM Tutors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170432" y="1353312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Who: ChatGPT, Khanmigo, Socratic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02336" y="1664208"/>
            <a:ext cx="39502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Does: Answer student questions in natural language using a general-purpose LLM.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02336" y="2103120"/>
            <a:ext cx="3950208" cy="502920"/>
          </a:xfrm>
          <a:prstGeom prst="rect">
            <a:avLst/>
          </a:prstGeom>
          <a:solidFill>
            <a:srgbClr val="EF4444">
              <a:alpha val="20000"/>
            </a:srgbClr>
          </a:solidFill>
          <a:ln w="1016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" y="2176272"/>
            <a:ext cx="292608" cy="29260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86384" y="210312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Not grounded in course-specific material. No quiz workflow. No instructor role.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709160" y="914400"/>
            <a:ext cx="4206240" cy="1810512"/>
          </a:xfrm>
          <a:prstGeom prst="rect">
            <a:avLst/>
          </a:prstGeom>
          <a:solidFill>
            <a:srgbClr val="1E293B"/>
          </a:solidFill>
          <a:ln w="1524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4709160" y="914400"/>
            <a:ext cx="64008" cy="18105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3752" y="1051560"/>
            <a:ext cx="594360" cy="5943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605272" y="987552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RAG-Only Systems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5605272" y="1353312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Who: LlamaIndex apps, custom chatbots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4837176" y="1664208"/>
            <a:ext cx="39502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Does: Retrieve context from documents and inject into prompts for grounded Q&amp;A.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4837176" y="2103120"/>
            <a:ext cx="3950208" cy="502920"/>
          </a:xfrm>
          <a:prstGeom prst="rect">
            <a:avLst/>
          </a:prstGeom>
          <a:solidFill>
            <a:srgbClr val="EF4444">
              <a:alpha val="20000"/>
            </a:srgbClr>
          </a:solidFill>
          <a:ln w="1016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52" y="2176272"/>
            <a:ext cx="292608" cy="29260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221224" y="210312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Single-mode: only Q&amp;A. No agents, no assessment loop, no role differentiation.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274320" y="2907792"/>
            <a:ext cx="4206240" cy="1810512"/>
          </a:xfrm>
          <a:prstGeom prst="rect">
            <a:avLst/>
          </a:prstGeom>
          <a:solidFill>
            <a:srgbClr val="1E293B"/>
          </a:solidFill>
          <a:ln w="1524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1"/>
          <p:cNvSpPr/>
          <p:nvPr/>
        </p:nvSpPr>
        <p:spPr>
          <a:xfrm>
            <a:off x="274320" y="2907792"/>
            <a:ext cx="64008" cy="181051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912" y="3044952"/>
            <a:ext cx="594360" cy="59436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170432" y="2980944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LMS Quiz Tools</a:t>
            </a:r>
            <a:endParaRPr lang="en-US" sz="1400" dirty="0"/>
          </a:p>
        </p:txBody>
      </p:sp>
      <p:sp>
        <p:nvSpPr>
          <p:cNvPr id="30" name="Text 23"/>
          <p:cNvSpPr/>
          <p:nvPr/>
        </p:nvSpPr>
        <p:spPr>
          <a:xfrm>
            <a:off x="1170432" y="3346704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Who: Canvas, Moodle, Google Forms</a:t>
            </a:r>
            <a:endParaRPr lang="en-US" sz="1000" dirty="0"/>
          </a:p>
        </p:txBody>
      </p:sp>
      <p:sp>
        <p:nvSpPr>
          <p:cNvPr id="31" name="Text 24"/>
          <p:cNvSpPr/>
          <p:nvPr/>
        </p:nvSpPr>
        <p:spPr>
          <a:xfrm>
            <a:off x="402336" y="3657600"/>
            <a:ext cx="39502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Does: Assign and grade quizzes. Track scores. Manage submissions at scale.</a:t>
            </a:r>
            <a:endParaRPr lang="en-US" sz="1050" dirty="0"/>
          </a:p>
        </p:txBody>
      </p:sp>
      <p:sp>
        <p:nvSpPr>
          <p:cNvPr id="32" name="Shape 25"/>
          <p:cNvSpPr/>
          <p:nvPr/>
        </p:nvSpPr>
        <p:spPr>
          <a:xfrm>
            <a:off x="402336" y="4096512"/>
            <a:ext cx="3950208" cy="502920"/>
          </a:xfrm>
          <a:prstGeom prst="rect">
            <a:avLst/>
          </a:prstGeom>
          <a:solidFill>
            <a:srgbClr val="EF4444">
              <a:alpha val="20000"/>
            </a:srgbClr>
          </a:solidFill>
          <a:ln w="1016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" y="4169664"/>
            <a:ext cx="292608" cy="292608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786384" y="4096512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No AI explanations. No adaptive feedback. Score is the end of the loop.</a:t>
            </a:r>
            <a:endParaRPr lang="en-US" sz="1000" dirty="0"/>
          </a:p>
        </p:txBody>
      </p:sp>
      <p:sp>
        <p:nvSpPr>
          <p:cNvPr id="35" name="Shape 27"/>
          <p:cNvSpPr/>
          <p:nvPr/>
        </p:nvSpPr>
        <p:spPr>
          <a:xfrm>
            <a:off x="4709160" y="2907792"/>
            <a:ext cx="4206240" cy="1810512"/>
          </a:xfrm>
          <a:prstGeom prst="rect">
            <a:avLst/>
          </a:prstGeom>
          <a:solidFill>
            <a:srgbClr val="1E293B"/>
          </a:solidFill>
          <a:ln w="1524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28"/>
          <p:cNvSpPr/>
          <p:nvPr/>
        </p:nvSpPr>
        <p:spPr>
          <a:xfrm>
            <a:off x="4709160" y="2907792"/>
            <a:ext cx="64008" cy="18105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73752" y="3044952"/>
            <a:ext cx="594360" cy="594360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5605272" y="2980944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Frameworks</a:t>
            </a:r>
            <a:endParaRPr lang="en-US" sz="1400" dirty="0"/>
          </a:p>
        </p:txBody>
      </p:sp>
      <p:sp>
        <p:nvSpPr>
          <p:cNvPr id="39" name="Text 30"/>
          <p:cNvSpPr/>
          <p:nvPr/>
        </p:nvSpPr>
        <p:spPr>
          <a:xfrm>
            <a:off x="5605272" y="3346704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Who: AutoGPT, LangGraph, CrewAI</a:t>
            </a:r>
            <a:endParaRPr lang="en-US" sz="1000" dirty="0"/>
          </a:p>
        </p:txBody>
      </p:sp>
      <p:sp>
        <p:nvSpPr>
          <p:cNvPr id="40" name="Text 31"/>
          <p:cNvSpPr/>
          <p:nvPr/>
        </p:nvSpPr>
        <p:spPr>
          <a:xfrm>
            <a:off x="4837176" y="3657600"/>
            <a:ext cx="39502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Does: Multi-agent orchestration for complex workflows using LLM tool-calling.</a:t>
            </a:r>
            <a:endParaRPr lang="en-US" sz="1050" dirty="0"/>
          </a:p>
        </p:txBody>
      </p:sp>
      <p:sp>
        <p:nvSpPr>
          <p:cNvPr id="41" name="Shape 32"/>
          <p:cNvSpPr/>
          <p:nvPr/>
        </p:nvSpPr>
        <p:spPr>
          <a:xfrm>
            <a:off x="4837176" y="4096512"/>
            <a:ext cx="3950208" cy="502920"/>
          </a:xfrm>
          <a:prstGeom prst="rect">
            <a:avLst/>
          </a:prstGeom>
          <a:solidFill>
            <a:srgbClr val="EF4444">
              <a:alpha val="20000"/>
            </a:srgbClr>
          </a:solidFill>
          <a:ln w="1016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52" y="4169664"/>
            <a:ext cx="292608" cy="292608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5221224" y="4096512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General-purpose — not tailored to education, assessment, or grounding.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76656"/>
            <a:ext cx="914400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56032" y="109728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059669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56032" y="10972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737360" y="91440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ScholarAI: Combining the Best of All Worlds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0" y="4910328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ScholarAI  ·  RAG + Multi-Agent Learning Platform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74320" y="868680"/>
            <a:ext cx="8595360" cy="713232"/>
          </a:xfrm>
          <a:prstGeom prst="rect">
            <a:avLst/>
          </a:prstGeom>
          <a:solidFill>
            <a:srgbClr val="059669">
              <a:alpha val="35000"/>
            </a:srgbClr>
          </a:solidFill>
          <a:ln w="1905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78408"/>
            <a:ext cx="502920" cy="502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51560" y="896112"/>
            <a:ext cx="7635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unify RAG grounding + multi-agent task routing + role-aware assessment workflows in a single platform.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274320" y="1719072"/>
            <a:ext cx="8595360" cy="402336"/>
          </a:xfrm>
          <a:prstGeom prst="rect">
            <a:avLst/>
          </a:prstGeom>
          <a:solidFill>
            <a:srgbClr val="0F172A"/>
          </a:solidFill>
          <a:ln w="63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65760" y="1719072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480560" y="1719072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Others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309360" y="1719072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ScholarAI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74320" y="2176272"/>
            <a:ext cx="8595360" cy="475488"/>
          </a:xfrm>
          <a:prstGeom prst="rect">
            <a:avLst/>
          </a:prstGeom>
          <a:solidFill>
            <a:srgbClr val="1E293B"/>
          </a:solidFill>
          <a:ln w="381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274320" y="2176272"/>
            <a:ext cx="54864" cy="47548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38912" y="2176272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answers (RAG)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480560" y="2176272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/ partial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446520" y="2249424"/>
            <a:ext cx="1280160" cy="329184"/>
          </a:xfrm>
          <a:prstGeom prst="roundRect">
            <a:avLst>
              <a:gd name="adj" fmla="val 16667"/>
            </a:avLst>
          </a:prstGeom>
          <a:solidFill>
            <a:srgbClr val="10B981">
              <a:alpha val="45000"/>
            </a:srgbClr>
          </a:solidFill>
          <a:ln w="1016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446520" y="224942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Full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274320" y="2706624"/>
            <a:ext cx="8595360" cy="475488"/>
          </a:xfrm>
          <a:prstGeom prst="rect">
            <a:avLst/>
          </a:prstGeom>
          <a:solidFill>
            <a:srgbClr val="0F172A"/>
          </a:solidFill>
          <a:ln w="381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274320" y="2706624"/>
            <a:ext cx="54864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438912" y="2706624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task routing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480560" y="2706624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6446520" y="2779776"/>
            <a:ext cx="1280160" cy="329184"/>
          </a:xfrm>
          <a:prstGeom prst="roundRect">
            <a:avLst>
              <a:gd name="adj" fmla="val 16667"/>
            </a:avLst>
          </a:prstGeom>
          <a:solidFill>
            <a:srgbClr val="0D9488">
              <a:alpha val="45000"/>
            </a:srgbClr>
          </a:solidFill>
          <a:ln w="1016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6446520" y="277977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4 modes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274320" y="3236976"/>
            <a:ext cx="8595360" cy="475488"/>
          </a:xfrm>
          <a:prstGeom prst="rect">
            <a:avLst/>
          </a:prstGeom>
          <a:solidFill>
            <a:srgbClr val="1E293B"/>
          </a:solidFill>
          <a:ln w="381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274320" y="3236976"/>
            <a:ext cx="54864" cy="47548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438912" y="3236976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Role-aware (Prof + Student)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4480560" y="3236976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6446520" y="3310128"/>
            <a:ext cx="1280160" cy="329184"/>
          </a:xfrm>
          <a:prstGeom prst="roundRect">
            <a:avLst>
              <a:gd name="adj" fmla="val 16667"/>
            </a:avLst>
          </a:prstGeom>
          <a:solidFill>
            <a:srgbClr val="3B82F6">
              <a:alpha val="45000"/>
            </a:srgbClr>
          </a:solidFill>
          <a:ln w="1016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6446520" y="331012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274320" y="3767328"/>
            <a:ext cx="8595360" cy="475488"/>
          </a:xfrm>
          <a:prstGeom prst="rect">
            <a:avLst/>
          </a:prstGeom>
          <a:solidFill>
            <a:srgbClr val="0F172A"/>
          </a:solidFill>
          <a:ln w="381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274320" y="3767328"/>
            <a:ext cx="54864" cy="47548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438912" y="3767328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assign → grade → explain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4480560" y="3767328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6446520" y="3840480"/>
            <a:ext cx="1280160" cy="329184"/>
          </a:xfrm>
          <a:prstGeom prst="roundRect">
            <a:avLst>
              <a:gd name="adj" fmla="val 16667"/>
            </a:avLst>
          </a:prstGeom>
          <a:solidFill>
            <a:srgbClr val="8B5CF6">
              <a:alpha val="45000"/>
            </a:srgbClr>
          </a:solidFill>
          <a:ln w="1016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6446520" y="384048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Loop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274320" y="4297680"/>
            <a:ext cx="8595360" cy="475488"/>
          </a:xfrm>
          <a:prstGeom prst="rect">
            <a:avLst/>
          </a:prstGeom>
          <a:solidFill>
            <a:srgbClr val="1E293B"/>
          </a:solidFill>
          <a:ln w="381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7"/>
          <p:cNvSpPr/>
          <p:nvPr/>
        </p:nvSpPr>
        <p:spPr>
          <a:xfrm>
            <a:off x="274320" y="4297680"/>
            <a:ext cx="54864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438912" y="4297680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study plans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4480560" y="429768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43" name="Shape 40"/>
          <p:cNvSpPr/>
          <p:nvPr/>
        </p:nvSpPr>
        <p:spPr>
          <a:xfrm>
            <a:off x="6446520" y="4370832"/>
            <a:ext cx="1280160" cy="329184"/>
          </a:xfrm>
          <a:prstGeom prst="roundRect">
            <a:avLst>
              <a:gd name="adj" fmla="val 16667"/>
            </a:avLst>
          </a:prstGeom>
          <a:solidFill>
            <a:srgbClr val="F59E0B">
              <a:alpha val="45000"/>
            </a:srgbClr>
          </a:solidFill>
          <a:ln w="1016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/>
          <p:nvPr/>
        </p:nvSpPr>
        <p:spPr>
          <a:xfrm>
            <a:off x="6446520" y="437083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AI-gen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76656"/>
            <a:ext cx="914400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56032" y="109728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059669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56032" y="10972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737360" y="91440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 Overview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0" y="4910328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ScholarAI  ·  RAG + Multi-Agent Learning Platform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28600" y="822960"/>
            <a:ext cx="2651760" cy="3977640"/>
          </a:xfrm>
          <a:prstGeom prst="rect">
            <a:avLst/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28600" y="822960"/>
            <a:ext cx="2651760" cy="411480"/>
          </a:xfrm>
          <a:prstGeom prst="rect">
            <a:avLst/>
          </a:prstGeom>
          <a:solidFill>
            <a:srgbClr val="059669">
              <a:alpha val="7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28600" y="8229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RAG Layer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84048" y="1371600"/>
            <a:ext cx="502920" cy="502920"/>
          </a:xfrm>
          <a:prstGeom prst="ellipse">
            <a:avLst/>
          </a:prstGeom>
          <a:solidFill>
            <a:srgbClr val="059669">
              <a:alpha val="65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" y="1408176"/>
            <a:ext cx="429768" cy="42976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635508" y="1874520"/>
            <a:ext cx="0" cy="246888"/>
          </a:xfrm>
          <a:prstGeom prst="line">
            <a:avLst/>
          </a:prstGeom>
          <a:noFill/>
          <a:ln w="19050">
            <a:solidFill>
              <a:srgbClr val="059669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05840" y="13716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Document Upload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05840" y="16276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+ personal files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84048" y="2121408"/>
            <a:ext cx="502920" cy="502920"/>
          </a:xfrm>
          <a:prstGeom prst="ellipse">
            <a:avLst/>
          </a:prstGeom>
          <a:solidFill>
            <a:srgbClr val="059669">
              <a:alpha val="65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" y="2157984"/>
            <a:ext cx="429768" cy="429768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635508" y="2624328"/>
            <a:ext cx="0" cy="246888"/>
          </a:xfrm>
          <a:prstGeom prst="line">
            <a:avLst/>
          </a:prstGeom>
          <a:noFill/>
          <a:ln w="19050">
            <a:solidFill>
              <a:srgbClr val="059669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1005840" y="21214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Chunk &amp; Embed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1005840" y="23774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index per topic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384048" y="2871216"/>
            <a:ext cx="502920" cy="502920"/>
          </a:xfrm>
          <a:prstGeom prst="ellipse">
            <a:avLst/>
          </a:prstGeom>
          <a:solidFill>
            <a:srgbClr val="059669">
              <a:alpha val="65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624" y="2907792"/>
            <a:ext cx="429768" cy="429768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635508" y="3374136"/>
            <a:ext cx="0" cy="246888"/>
          </a:xfrm>
          <a:prstGeom prst="line">
            <a:avLst/>
          </a:prstGeom>
          <a:noFill/>
          <a:ln w="19050">
            <a:solidFill>
              <a:srgbClr val="059669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9"/>
          <p:cNvSpPr/>
          <p:nvPr/>
        </p:nvSpPr>
        <p:spPr>
          <a:xfrm>
            <a:off x="1005840" y="287121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Retrieval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1005840" y="31272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relevant chunks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384048" y="3621024"/>
            <a:ext cx="502920" cy="502920"/>
          </a:xfrm>
          <a:prstGeom prst="ellipse">
            <a:avLst/>
          </a:prstGeom>
          <a:solidFill>
            <a:srgbClr val="059669">
              <a:alpha val="65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624" y="3657600"/>
            <a:ext cx="429768" cy="42976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005840" y="362102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 Injection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1005840" y="387705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agent prompt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3154680" y="822960"/>
            <a:ext cx="2834640" cy="3977640"/>
          </a:xfrm>
          <a:prstGeom prst="rect">
            <a:avLst/>
          </a:prstGeom>
          <a:solidFill>
            <a:srgbClr val="1E293B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5"/>
          <p:cNvSpPr/>
          <p:nvPr/>
        </p:nvSpPr>
        <p:spPr>
          <a:xfrm>
            <a:off x="3154680" y="822960"/>
            <a:ext cx="2834640" cy="411480"/>
          </a:xfrm>
          <a:prstGeom prst="rect">
            <a:avLst/>
          </a:prstGeom>
          <a:solidFill>
            <a:srgbClr val="0D9488">
              <a:alpha val="7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6"/>
          <p:cNvSpPr/>
          <p:nvPr/>
        </p:nvSpPr>
        <p:spPr>
          <a:xfrm>
            <a:off x="3154680" y="82296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Router</a:t>
            </a:r>
            <a:endParaRPr lang="en-US" sz="1300" dirty="0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800" y="1371600"/>
            <a:ext cx="914400" cy="91440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3291840" y="23317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 Detection</a:t>
            </a:r>
            <a:endParaRPr lang="en-US" sz="1200" dirty="0"/>
          </a:p>
        </p:txBody>
      </p:sp>
      <p:sp>
        <p:nvSpPr>
          <p:cNvPr id="35" name="Shape 28"/>
          <p:cNvSpPr/>
          <p:nvPr/>
        </p:nvSpPr>
        <p:spPr>
          <a:xfrm>
            <a:off x="3246120" y="2834640"/>
            <a:ext cx="1234440" cy="621792"/>
          </a:xfrm>
          <a:prstGeom prst="roundRect">
            <a:avLst>
              <a:gd name="adj" fmla="val 11765"/>
            </a:avLst>
          </a:prstGeom>
          <a:solidFill>
            <a:srgbClr val="10B981">
              <a:alpha val="4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0128" y="2916936"/>
            <a:ext cx="438912" cy="438912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3776472" y="2834640"/>
            <a:ext cx="685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Answer</a:t>
            </a:r>
            <a:endParaRPr lang="en-US" sz="1200" dirty="0"/>
          </a:p>
        </p:txBody>
      </p:sp>
      <p:sp>
        <p:nvSpPr>
          <p:cNvPr id="38" name="Shape 30"/>
          <p:cNvSpPr/>
          <p:nvPr/>
        </p:nvSpPr>
        <p:spPr>
          <a:xfrm>
            <a:off x="4617720" y="2834640"/>
            <a:ext cx="1234440" cy="621792"/>
          </a:xfrm>
          <a:prstGeom prst="roundRect">
            <a:avLst>
              <a:gd name="adj" fmla="val 11765"/>
            </a:avLst>
          </a:prstGeom>
          <a:solidFill>
            <a:srgbClr val="3B82F6">
              <a:alpha val="40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81728" y="2916936"/>
            <a:ext cx="438912" cy="438912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5148072" y="2834640"/>
            <a:ext cx="685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Planner</a:t>
            </a:r>
            <a:endParaRPr lang="en-US" sz="1200" dirty="0"/>
          </a:p>
        </p:txBody>
      </p:sp>
      <p:sp>
        <p:nvSpPr>
          <p:cNvPr id="41" name="Shape 32"/>
          <p:cNvSpPr/>
          <p:nvPr/>
        </p:nvSpPr>
        <p:spPr>
          <a:xfrm>
            <a:off x="3246120" y="3584448"/>
            <a:ext cx="1234440" cy="621792"/>
          </a:xfrm>
          <a:prstGeom prst="roundRect">
            <a:avLst>
              <a:gd name="adj" fmla="val 11765"/>
            </a:avLst>
          </a:prstGeom>
          <a:solidFill>
            <a:srgbClr val="8B5CF6">
              <a:alpha val="40000"/>
            </a:srgbClr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10128" y="3666744"/>
            <a:ext cx="438912" cy="438912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3776472" y="3584448"/>
            <a:ext cx="685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Quiz</a:t>
            </a:r>
            <a:endParaRPr lang="en-US" sz="1200" dirty="0"/>
          </a:p>
        </p:txBody>
      </p:sp>
      <p:sp>
        <p:nvSpPr>
          <p:cNvPr id="44" name="Shape 34"/>
          <p:cNvSpPr/>
          <p:nvPr/>
        </p:nvSpPr>
        <p:spPr>
          <a:xfrm>
            <a:off x="4617720" y="3584448"/>
            <a:ext cx="1234440" cy="621792"/>
          </a:xfrm>
          <a:prstGeom prst="roundRect">
            <a:avLst>
              <a:gd name="adj" fmla="val 11765"/>
            </a:avLst>
          </a:prstGeom>
          <a:solidFill>
            <a:srgbClr val="F59E0B">
              <a:alpha val="4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5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1728" y="3666744"/>
            <a:ext cx="438912" cy="438912"/>
          </a:xfrm>
          <a:prstGeom prst="rect">
            <a:avLst/>
          </a:prstGeom>
        </p:spPr>
      </p:pic>
      <p:sp>
        <p:nvSpPr>
          <p:cNvPr id="46" name="Text 35"/>
          <p:cNvSpPr/>
          <p:nvPr/>
        </p:nvSpPr>
        <p:spPr>
          <a:xfrm>
            <a:off x="5148072" y="3584448"/>
            <a:ext cx="685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Explain</a:t>
            </a:r>
            <a:endParaRPr lang="en-US" sz="1200" dirty="0"/>
          </a:p>
        </p:txBody>
      </p:sp>
      <p:sp>
        <p:nvSpPr>
          <p:cNvPr id="47" name="Shape 36"/>
          <p:cNvSpPr/>
          <p:nvPr/>
        </p:nvSpPr>
        <p:spPr>
          <a:xfrm>
            <a:off x="6217920" y="822960"/>
            <a:ext cx="2743200" cy="1828800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37"/>
          <p:cNvSpPr/>
          <p:nvPr/>
        </p:nvSpPr>
        <p:spPr>
          <a:xfrm>
            <a:off x="6217920" y="822960"/>
            <a:ext cx="2743200" cy="411480"/>
          </a:xfrm>
          <a:prstGeom prst="rect">
            <a:avLst/>
          </a:prstGeom>
          <a:solidFill>
            <a:srgbClr val="3B82F6">
              <a:alpha val="60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38"/>
          <p:cNvSpPr/>
          <p:nvPr/>
        </p:nvSpPr>
        <p:spPr>
          <a:xfrm>
            <a:off x="6217920" y="8229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</a:t>
            </a:r>
            <a:endParaRPr lang="en-US" sz="1300" dirty="0"/>
          </a:p>
        </p:txBody>
      </p:sp>
      <p:pic>
        <p:nvPicPr>
          <p:cNvPr id="50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37960" y="1325880"/>
            <a:ext cx="548640" cy="548640"/>
          </a:xfrm>
          <a:prstGeom prst="rect">
            <a:avLst/>
          </a:prstGeom>
        </p:spPr>
      </p:pic>
      <p:sp>
        <p:nvSpPr>
          <p:cNvPr id="51" name="Text 39"/>
          <p:cNvSpPr/>
          <p:nvPr/>
        </p:nvSpPr>
        <p:spPr>
          <a:xfrm>
            <a:off x="7150608" y="13533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Next.js</a:t>
            </a:r>
            <a:endParaRPr lang="en-US" sz="1200" dirty="0"/>
          </a:p>
        </p:txBody>
      </p:sp>
      <p:sp>
        <p:nvSpPr>
          <p:cNvPr id="52" name="Text 40"/>
          <p:cNvSpPr/>
          <p:nvPr/>
        </p:nvSpPr>
        <p:spPr>
          <a:xfrm>
            <a:off x="7150608" y="160020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Role-aware UI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(Prof / Student)</a:t>
            </a:r>
            <a:endParaRPr lang="en-US" sz="1000" dirty="0"/>
          </a:p>
        </p:txBody>
      </p:sp>
      <p:sp>
        <p:nvSpPr>
          <p:cNvPr id="53" name="Shape 41"/>
          <p:cNvSpPr/>
          <p:nvPr/>
        </p:nvSpPr>
        <p:spPr>
          <a:xfrm>
            <a:off x="6217920" y="2880360"/>
            <a:ext cx="2743200" cy="1920240"/>
          </a:xfrm>
          <a:prstGeom prst="rect">
            <a:avLst/>
          </a:prstGeom>
          <a:solidFill>
            <a:srgbClr val="1E293B"/>
          </a:solidFill>
          <a:ln w="1905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42"/>
          <p:cNvSpPr/>
          <p:nvPr/>
        </p:nvSpPr>
        <p:spPr>
          <a:xfrm>
            <a:off x="6217920" y="2880360"/>
            <a:ext cx="2743200" cy="411480"/>
          </a:xfrm>
          <a:prstGeom prst="rect">
            <a:avLst/>
          </a:prstGeom>
          <a:solidFill>
            <a:srgbClr val="8B5CF6">
              <a:alpha val="60000"/>
            </a:srgbClr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43"/>
          <p:cNvSpPr/>
          <p:nvPr/>
        </p:nvSpPr>
        <p:spPr>
          <a:xfrm>
            <a:off x="6217920" y="28803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Layer</a:t>
            </a:r>
            <a:endParaRPr lang="en-US" sz="1300" dirty="0"/>
          </a:p>
        </p:txBody>
      </p:sp>
      <p:pic>
        <p:nvPicPr>
          <p:cNvPr id="56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55080" y="3429000"/>
            <a:ext cx="438912" cy="438912"/>
          </a:xfrm>
          <a:prstGeom prst="rect">
            <a:avLst/>
          </a:prstGeom>
        </p:spPr>
      </p:pic>
      <p:sp>
        <p:nvSpPr>
          <p:cNvPr id="57" name="Text 44"/>
          <p:cNvSpPr/>
          <p:nvPr/>
        </p:nvSpPr>
        <p:spPr>
          <a:xfrm>
            <a:off x="6858000" y="342900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 + Firestore</a:t>
            </a:r>
            <a:endParaRPr lang="en-US" sz="1100" dirty="0"/>
          </a:p>
        </p:txBody>
      </p:sp>
      <p:pic>
        <p:nvPicPr>
          <p:cNvPr id="58" name="Image 1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4087368"/>
            <a:ext cx="438912" cy="438912"/>
          </a:xfrm>
          <a:prstGeom prst="rect">
            <a:avLst/>
          </a:prstGeom>
        </p:spPr>
      </p:pic>
      <p:sp>
        <p:nvSpPr>
          <p:cNvPr id="59" name="Text 45"/>
          <p:cNvSpPr/>
          <p:nvPr/>
        </p:nvSpPr>
        <p:spPr>
          <a:xfrm>
            <a:off x="6858000" y="4087368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Index (topic-owner)</a:t>
            </a:r>
            <a:endParaRPr lang="en-US" sz="1100" dirty="0"/>
          </a:p>
        </p:txBody>
      </p:sp>
      <p:sp>
        <p:nvSpPr>
          <p:cNvPr id="60" name="Shape 46"/>
          <p:cNvSpPr/>
          <p:nvPr/>
        </p:nvSpPr>
        <p:spPr>
          <a:xfrm>
            <a:off x="2880360" y="2834640"/>
            <a:ext cx="256032" cy="0"/>
          </a:xfrm>
          <a:prstGeom prst="line">
            <a:avLst/>
          </a:prstGeom>
          <a:noFill/>
          <a:ln w="254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47"/>
          <p:cNvSpPr/>
          <p:nvPr/>
        </p:nvSpPr>
        <p:spPr>
          <a:xfrm>
            <a:off x="3072384" y="2743200"/>
            <a:ext cx="201168" cy="20116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48"/>
          <p:cNvSpPr/>
          <p:nvPr/>
        </p:nvSpPr>
        <p:spPr>
          <a:xfrm>
            <a:off x="5989320" y="2651760"/>
            <a:ext cx="201168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49"/>
          <p:cNvSpPr/>
          <p:nvPr/>
        </p:nvSpPr>
        <p:spPr>
          <a:xfrm>
            <a:off x="6126480" y="2560320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76656"/>
            <a:ext cx="914400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56032" y="109728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059669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56032" y="10972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737360" y="91440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Full Learning Loop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0" y="4910328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ScholarAI  ·  RAG + Multi-Agent Learning Platform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74320" y="1097280"/>
            <a:ext cx="1298448" cy="3200400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4320" y="1097280"/>
            <a:ext cx="1298448" cy="411480"/>
          </a:xfrm>
          <a:prstGeom prst="rect">
            <a:avLst/>
          </a:prstGeom>
          <a:solidFill>
            <a:srgbClr val="3B82F6">
              <a:alpha val="55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4320" y="1097280"/>
            <a:ext cx="12984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5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1645920"/>
            <a:ext cx="694944" cy="69494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274320" y="2468880"/>
            <a:ext cx="12984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Upload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38328" y="2880360"/>
            <a:ext cx="11704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 uploads course docs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1572768" y="2560320"/>
            <a:ext cx="109728" cy="0"/>
          </a:xfrm>
          <a:prstGeom prst="line">
            <a:avLst/>
          </a:prstGeom>
          <a:noFill/>
          <a:ln w="2286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1591056" y="2487168"/>
            <a:ext cx="164592" cy="16459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1682496" y="1097280"/>
            <a:ext cx="1298448" cy="3200400"/>
          </a:xfrm>
          <a:prstGeom prst="rect">
            <a:avLst/>
          </a:prstGeom>
          <a:solidFill>
            <a:srgbClr val="1E293B"/>
          </a:solidFill>
          <a:ln w="1905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1682496" y="1097280"/>
            <a:ext cx="1298448" cy="411480"/>
          </a:xfrm>
          <a:prstGeom prst="rect">
            <a:avLst/>
          </a:prstGeom>
          <a:solidFill>
            <a:srgbClr val="8B5CF6">
              <a:alpha val="55000"/>
            </a:srgbClr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1682496" y="1097280"/>
            <a:ext cx="12984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50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4248" y="1645920"/>
            <a:ext cx="694944" cy="69494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682496" y="2468880"/>
            <a:ext cx="12984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Quiz Create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1746504" y="2880360"/>
            <a:ext cx="11704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generates MCQ/short-answer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2980944" y="2560320"/>
            <a:ext cx="109728" cy="0"/>
          </a:xfrm>
          <a:prstGeom prst="line">
            <a:avLst/>
          </a:prstGeom>
          <a:noFill/>
          <a:ln w="2286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2999232" y="2487168"/>
            <a:ext cx="164592" cy="16459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0"/>
          <p:cNvSpPr/>
          <p:nvPr/>
        </p:nvSpPr>
        <p:spPr>
          <a:xfrm>
            <a:off x="3090672" y="1097280"/>
            <a:ext cx="1298448" cy="3200400"/>
          </a:xfrm>
          <a:prstGeom prst="rect">
            <a:avLst/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1"/>
          <p:cNvSpPr/>
          <p:nvPr/>
        </p:nvSpPr>
        <p:spPr>
          <a:xfrm>
            <a:off x="3090672" y="1097280"/>
            <a:ext cx="1298448" cy="411480"/>
          </a:xfrm>
          <a:prstGeom prst="rect">
            <a:avLst/>
          </a:prstGeom>
          <a:solidFill>
            <a:srgbClr val="10B981">
              <a:alpha val="55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/>
          <p:nvPr/>
        </p:nvSpPr>
        <p:spPr>
          <a:xfrm>
            <a:off x="3090672" y="1097280"/>
            <a:ext cx="12984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500" dirty="0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92424" y="1645920"/>
            <a:ext cx="694944" cy="694944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3090672" y="2468880"/>
            <a:ext cx="12984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Submit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3154680" y="2880360"/>
            <a:ext cx="11704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answers in-platform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4389120" y="2560320"/>
            <a:ext cx="109728" cy="0"/>
          </a:xfrm>
          <a:prstGeom prst="line">
            <a:avLst/>
          </a:prstGeom>
          <a:noFill/>
          <a:ln w="2286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6"/>
          <p:cNvSpPr/>
          <p:nvPr/>
        </p:nvSpPr>
        <p:spPr>
          <a:xfrm>
            <a:off x="4407408" y="2487168"/>
            <a:ext cx="164592" cy="16459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7"/>
          <p:cNvSpPr/>
          <p:nvPr/>
        </p:nvSpPr>
        <p:spPr>
          <a:xfrm>
            <a:off x="4498848" y="1097280"/>
            <a:ext cx="1298448" cy="3200400"/>
          </a:xfrm>
          <a:prstGeom prst="rect">
            <a:avLst/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28"/>
          <p:cNvSpPr/>
          <p:nvPr/>
        </p:nvSpPr>
        <p:spPr>
          <a:xfrm>
            <a:off x="4498848" y="1097280"/>
            <a:ext cx="1298448" cy="411480"/>
          </a:xfrm>
          <a:prstGeom prst="rect">
            <a:avLst/>
          </a:prstGeom>
          <a:solidFill>
            <a:srgbClr val="F59E0B">
              <a:alpha val="55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9"/>
          <p:cNvSpPr/>
          <p:nvPr/>
        </p:nvSpPr>
        <p:spPr>
          <a:xfrm>
            <a:off x="4498848" y="1097280"/>
            <a:ext cx="12984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500" dirty="0"/>
          </a:p>
        </p:txBody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1645920"/>
            <a:ext cx="694944" cy="694944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4498848" y="2468880"/>
            <a:ext cx="12984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Auto-Grade</a:t>
            </a:r>
            <a:endParaRPr lang="en-US" sz="1300" dirty="0"/>
          </a:p>
        </p:txBody>
      </p:sp>
      <p:sp>
        <p:nvSpPr>
          <p:cNvPr id="37" name="Text 31"/>
          <p:cNvSpPr/>
          <p:nvPr/>
        </p:nvSpPr>
        <p:spPr>
          <a:xfrm>
            <a:off x="4562856" y="2880360"/>
            <a:ext cx="11704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against answer key</a:t>
            </a:r>
            <a:endParaRPr lang="en-US" sz="1050" dirty="0"/>
          </a:p>
        </p:txBody>
      </p:sp>
      <p:sp>
        <p:nvSpPr>
          <p:cNvPr id="38" name="Shape 32"/>
          <p:cNvSpPr/>
          <p:nvPr/>
        </p:nvSpPr>
        <p:spPr>
          <a:xfrm>
            <a:off x="5797296" y="2560320"/>
            <a:ext cx="109728" cy="0"/>
          </a:xfrm>
          <a:prstGeom prst="line">
            <a:avLst/>
          </a:prstGeom>
          <a:noFill/>
          <a:ln w="2286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3"/>
          <p:cNvSpPr/>
          <p:nvPr/>
        </p:nvSpPr>
        <p:spPr>
          <a:xfrm>
            <a:off x="5815584" y="2487168"/>
            <a:ext cx="164592" cy="16459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4"/>
          <p:cNvSpPr/>
          <p:nvPr/>
        </p:nvSpPr>
        <p:spPr>
          <a:xfrm>
            <a:off x="5907024" y="1097280"/>
            <a:ext cx="1298448" cy="3200400"/>
          </a:xfrm>
          <a:prstGeom prst="rect">
            <a:avLst/>
          </a:prstGeom>
          <a:solidFill>
            <a:srgbClr val="1E293B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5"/>
          <p:cNvSpPr/>
          <p:nvPr/>
        </p:nvSpPr>
        <p:spPr>
          <a:xfrm>
            <a:off x="5907024" y="1097280"/>
            <a:ext cx="1298448" cy="411480"/>
          </a:xfrm>
          <a:prstGeom prst="rect">
            <a:avLst/>
          </a:prstGeom>
          <a:solidFill>
            <a:srgbClr val="0D9488">
              <a:alpha val="55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6"/>
          <p:cNvSpPr/>
          <p:nvPr/>
        </p:nvSpPr>
        <p:spPr>
          <a:xfrm>
            <a:off x="5907024" y="1097280"/>
            <a:ext cx="12984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500" dirty="0"/>
          </a:p>
        </p:txBody>
      </p:sp>
      <p:pic>
        <p:nvPicPr>
          <p:cNvPr id="4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08776" y="1645920"/>
            <a:ext cx="694944" cy="694944"/>
          </a:xfrm>
          <a:prstGeom prst="rect">
            <a:avLst/>
          </a:prstGeom>
        </p:spPr>
      </p:pic>
      <p:sp>
        <p:nvSpPr>
          <p:cNvPr id="44" name="Text 37"/>
          <p:cNvSpPr/>
          <p:nvPr/>
        </p:nvSpPr>
        <p:spPr>
          <a:xfrm>
            <a:off x="5907024" y="2468880"/>
            <a:ext cx="12984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Explain</a:t>
            </a:r>
            <a:endParaRPr lang="en-US" sz="1300" dirty="0"/>
          </a:p>
        </p:txBody>
      </p:sp>
      <p:sp>
        <p:nvSpPr>
          <p:cNvPr id="45" name="Text 38"/>
          <p:cNvSpPr/>
          <p:nvPr/>
        </p:nvSpPr>
        <p:spPr>
          <a:xfrm>
            <a:off x="5971032" y="2880360"/>
            <a:ext cx="11704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explains each answer</a:t>
            </a:r>
            <a:endParaRPr lang="en-US" sz="1050" dirty="0"/>
          </a:p>
        </p:txBody>
      </p:sp>
      <p:sp>
        <p:nvSpPr>
          <p:cNvPr id="46" name="Shape 39"/>
          <p:cNvSpPr/>
          <p:nvPr/>
        </p:nvSpPr>
        <p:spPr>
          <a:xfrm>
            <a:off x="7205472" y="2560320"/>
            <a:ext cx="109728" cy="0"/>
          </a:xfrm>
          <a:prstGeom prst="line">
            <a:avLst/>
          </a:prstGeom>
          <a:noFill/>
          <a:ln w="2286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0"/>
          <p:cNvSpPr/>
          <p:nvPr/>
        </p:nvSpPr>
        <p:spPr>
          <a:xfrm>
            <a:off x="7223760" y="2487168"/>
            <a:ext cx="164592" cy="16459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1"/>
          <p:cNvSpPr/>
          <p:nvPr/>
        </p:nvSpPr>
        <p:spPr>
          <a:xfrm>
            <a:off x="7315200" y="1097280"/>
            <a:ext cx="1298448" cy="3200400"/>
          </a:xfrm>
          <a:prstGeom prst="rect">
            <a:avLst/>
          </a:prstGeom>
          <a:solidFill>
            <a:srgbClr val="1E293B"/>
          </a:solidFill>
          <a:ln w="19050">
            <a:solidFill>
              <a:srgbClr val="34D399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9" name="Shape 42"/>
          <p:cNvSpPr/>
          <p:nvPr/>
        </p:nvSpPr>
        <p:spPr>
          <a:xfrm>
            <a:off x="7315200" y="1097280"/>
            <a:ext cx="1298448" cy="411480"/>
          </a:xfrm>
          <a:prstGeom prst="rect">
            <a:avLst/>
          </a:prstGeom>
          <a:solidFill>
            <a:srgbClr val="34D399">
              <a:alpha val="55000"/>
            </a:srgbClr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3"/>
          <p:cNvSpPr/>
          <p:nvPr/>
        </p:nvSpPr>
        <p:spPr>
          <a:xfrm>
            <a:off x="7315200" y="1097280"/>
            <a:ext cx="12984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500" dirty="0"/>
          </a:p>
        </p:txBody>
      </p:sp>
      <p:pic>
        <p:nvPicPr>
          <p:cNvPr id="5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16952" y="1645920"/>
            <a:ext cx="694944" cy="694944"/>
          </a:xfrm>
          <a:prstGeom prst="rect">
            <a:avLst/>
          </a:prstGeom>
        </p:spPr>
      </p:pic>
      <p:sp>
        <p:nvSpPr>
          <p:cNvPr id="52" name="Text 44"/>
          <p:cNvSpPr/>
          <p:nvPr/>
        </p:nvSpPr>
        <p:spPr>
          <a:xfrm>
            <a:off x="7315200" y="2468880"/>
            <a:ext cx="12984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Study Plan</a:t>
            </a:r>
            <a:endParaRPr lang="en-US" sz="1300" dirty="0"/>
          </a:p>
        </p:txBody>
      </p:sp>
      <p:sp>
        <p:nvSpPr>
          <p:cNvPr id="53" name="Text 45"/>
          <p:cNvSpPr/>
          <p:nvPr/>
        </p:nvSpPr>
        <p:spPr>
          <a:xfrm>
            <a:off x="7379208" y="2880360"/>
            <a:ext cx="11704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remediation</a:t>
            </a:r>
            <a:endParaRPr lang="en-US" sz="1050" dirty="0"/>
          </a:p>
        </p:txBody>
      </p:sp>
      <p:sp>
        <p:nvSpPr>
          <p:cNvPr id="54" name="Shape 46"/>
          <p:cNvSpPr/>
          <p:nvPr/>
        </p:nvSpPr>
        <p:spPr>
          <a:xfrm>
            <a:off x="274320" y="4462272"/>
            <a:ext cx="4023360" cy="384048"/>
          </a:xfrm>
          <a:prstGeom prst="roundRect">
            <a:avLst>
              <a:gd name="adj" fmla="val 14286"/>
            </a:avLst>
          </a:prstGeom>
          <a:solidFill>
            <a:srgbClr val="059669">
              <a:alpha val="40000"/>
            </a:srgbClr>
          </a:solidFill>
          <a:ln w="1016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47"/>
          <p:cNvSpPr/>
          <p:nvPr/>
        </p:nvSpPr>
        <p:spPr>
          <a:xfrm>
            <a:off x="274320" y="4462272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 RAG-grounded (steps 1–3)</a:t>
            </a:r>
            <a:endParaRPr lang="en-US" sz="1050" dirty="0"/>
          </a:p>
        </p:txBody>
      </p:sp>
      <p:sp>
        <p:nvSpPr>
          <p:cNvPr id="56" name="Shape 48"/>
          <p:cNvSpPr/>
          <p:nvPr/>
        </p:nvSpPr>
        <p:spPr>
          <a:xfrm>
            <a:off x="4800600" y="4462272"/>
            <a:ext cx="4069080" cy="384048"/>
          </a:xfrm>
          <a:prstGeom prst="roundRect">
            <a:avLst>
              <a:gd name="adj" fmla="val 14286"/>
            </a:avLst>
          </a:prstGeom>
          <a:solidFill>
            <a:srgbClr val="0D9488">
              <a:alpha val="40000"/>
            </a:srgbClr>
          </a:solidFill>
          <a:ln w="1016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49"/>
          <p:cNvSpPr/>
          <p:nvPr/>
        </p:nvSpPr>
        <p:spPr>
          <a:xfrm>
            <a:off x="4800600" y="4462272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 Agentic pipeline (steps 4–6)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76656"/>
            <a:ext cx="914400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56032" y="109728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059669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56032" y="10972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737360" y="91440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 Evaluated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0" y="4910328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ScholarAI  ·  RAG + Multi-Agent Learning Platform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74320" y="868680"/>
            <a:ext cx="4251960" cy="1993392"/>
          </a:xfrm>
          <a:prstGeom prst="rect">
            <a:avLst/>
          </a:prstGeom>
          <a:solidFill>
            <a:srgbClr val="1E293B"/>
          </a:solidFill>
          <a:ln w="1651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11480" y="1069848"/>
            <a:ext cx="731520" cy="731520"/>
          </a:xfrm>
          <a:prstGeom prst="ellipse">
            <a:avLst/>
          </a:prstGeom>
          <a:solidFill>
            <a:srgbClr val="10B981">
              <a:alpha val="55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" y="1106424"/>
            <a:ext cx="658368" cy="65836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61872" y="96012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Groundedness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02336" y="1856232"/>
            <a:ext cx="398678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Do responses stay within the uploaded document context?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02336" y="2240280"/>
            <a:ext cx="3986784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Manually compare model output vs. retrieved chunks. Check for off-context fabrication.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1234440" y="1371600"/>
            <a:ext cx="3154680" cy="347472"/>
          </a:xfrm>
          <a:prstGeom prst="roundRect">
            <a:avLst>
              <a:gd name="adj" fmla="val 13158"/>
            </a:avLst>
          </a:prstGeom>
          <a:solidFill>
            <a:srgbClr val="10B981">
              <a:alpha val="30000"/>
            </a:srgbClr>
          </a:solidFill>
          <a:ln w="1016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1234440" y="1371600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Metric: % responses citing retrieved material vs. hallucinated claims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736592" y="868680"/>
            <a:ext cx="4251960" cy="1993392"/>
          </a:xfrm>
          <a:prstGeom prst="rect">
            <a:avLst/>
          </a:prstGeom>
          <a:solidFill>
            <a:srgbClr val="1E293B"/>
          </a:solidFill>
          <a:ln w="1651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4873752" y="1069848"/>
            <a:ext cx="731520" cy="731520"/>
          </a:xfrm>
          <a:prstGeom prst="ellipse">
            <a:avLst/>
          </a:prstGeom>
          <a:solidFill>
            <a:srgbClr val="0D9488">
              <a:alpha val="55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0328" y="1106424"/>
            <a:ext cx="658368" cy="65836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724144" y="96012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Task Completion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4864608" y="1856232"/>
            <a:ext cx="398678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Does the full assign → submit → review loop complete reliably?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4864608" y="2240280"/>
            <a:ext cx="3986784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End-to-end workflow trace: professor assigns, student submits, auto-grade fires, results visible.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5696712" y="1371600"/>
            <a:ext cx="3154680" cy="347472"/>
          </a:xfrm>
          <a:prstGeom prst="roundRect">
            <a:avLst>
              <a:gd name="adj" fmla="val 13158"/>
            </a:avLst>
          </a:prstGeom>
          <a:solidFill>
            <a:srgbClr val="0D9488">
              <a:alpha val="30000"/>
            </a:srgbClr>
          </a:solidFill>
          <a:ln w="1016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5696712" y="1371600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Metric: % end-to-end runs completing without error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274320" y="3017520"/>
            <a:ext cx="4251960" cy="1993392"/>
          </a:xfrm>
          <a:prstGeom prst="rect">
            <a:avLst/>
          </a:prstGeom>
          <a:solidFill>
            <a:srgbClr val="1E293B"/>
          </a:solidFill>
          <a:ln w="1651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1"/>
          <p:cNvSpPr/>
          <p:nvPr/>
        </p:nvSpPr>
        <p:spPr>
          <a:xfrm>
            <a:off x="411480" y="3218688"/>
            <a:ext cx="731520" cy="731520"/>
          </a:xfrm>
          <a:prstGeom prst="ellipse">
            <a:avLst/>
          </a:prstGeom>
          <a:solidFill>
            <a:srgbClr val="3B82F6">
              <a:alpha val="55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056" y="3255264"/>
            <a:ext cx="658368" cy="658368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261872" y="31089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Usability</a:t>
            </a:r>
            <a:endParaRPr lang="en-US" sz="1400" dirty="0"/>
          </a:p>
        </p:txBody>
      </p:sp>
      <p:sp>
        <p:nvSpPr>
          <p:cNvPr id="28" name="Text 23"/>
          <p:cNvSpPr/>
          <p:nvPr/>
        </p:nvSpPr>
        <p:spPr>
          <a:xfrm>
            <a:off x="402336" y="4005072"/>
            <a:ext cx="398678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Can real users operate both professor and student flows in real time?</a:t>
            </a:r>
            <a:endParaRPr lang="en-US" sz="1000" dirty="0"/>
          </a:p>
        </p:txBody>
      </p:sp>
      <p:sp>
        <p:nvSpPr>
          <p:cNvPr id="29" name="Text 24"/>
          <p:cNvSpPr/>
          <p:nvPr/>
        </p:nvSpPr>
        <p:spPr>
          <a:xfrm>
            <a:off x="402336" y="4389120"/>
            <a:ext cx="3986784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Role-based walkthrough with test users. Measure time-to-complete per task.</a:t>
            </a:r>
            <a:endParaRPr lang="en-US" sz="1000" dirty="0"/>
          </a:p>
        </p:txBody>
      </p:sp>
      <p:sp>
        <p:nvSpPr>
          <p:cNvPr id="30" name="Shape 25"/>
          <p:cNvSpPr/>
          <p:nvPr/>
        </p:nvSpPr>
        <p:spPr>
          <a:xfrm>
            <a:off x="1234440" y="3520440"/>
            <a:ext cx="3154680" cy="347472"/>
          </a:xfrm>
          <a:prstGeom prst="roundRect">
            <a:avLst>
              <a:gd name="adj" fmla="val 13158"/>
            </a:avLst>
          </a:prstGeom>
          <a:solidFill>
            <a:srgbClr val="3B82F6">
              <a:alpha val="30000"/>
            </a:srgbClr>
          </a:solidFill>
          <a:ln w="1016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6"/>
          <p:cNvSpPr/>
          <p:nvPr/>
        </p:nvSpPr>
        <p:spPr>
          <a:xfrm>
            <a:off x="1234440" y="3520440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Metric: Task completion rate, time-on-task per workflow step</a:t>
            </a:r>
            <a:endParaRPr lang="en-US" sz="950" dirty="0"/>
          </a:p>
        </p:txBody>
      </p:sp>
      <p:sp>
        <p:nvSpPr>
          <p:cNvPr id="32" name="Shape 27"/>
          <p:cNvSpPr/>
          <p:nvPr/>
        </p:nvSpPr>
        <p:spPr>
          <a:xfrm>
            <a:off x="4736592" y="3017520"/>
            <a:ext cx="4251960" cy="1993392"/>
          </a:xfrm>
          <a:prstGeom prst="rect">
            <a:avLst/>
          </a:prstGeom>
          <a:solidFill>
            <a:srgbClr val="1E293B"/>
          </a:solidFill>
          <a:ln w="1651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28"/>
          <p:cNvSpPr/>
          <p:nvPr/>
        </p:nvSpPr>
        <p:spPr>
          <a:xfrm>
            <a:off x="4873752" y="3218688"/>
            <a:ext cx="731520" cy="731520"/>
          </a:xfrm>
          <a:prstGeom prst="ellipse">
            <a:avLst/>
          </a:prstGeom>
          <a:solidFill>
            <a:srgbClr val="8B5CF6">
              <a:alpha val="55000"/>
            </a:srgbClr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0328" y="3255264"/>
            <a:ext cx="658368" cy="658368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5724144" y="31089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Reliability</a:t>
            </a:r>
            <a:endParaRPr lang="en-US" sz="1400" dirty="0"/>
          </a:p>
        </p:txBody>
      </p:sp>
      <p:sp>
        <p:nvSpPr>
          <p:cNvPr id="36" name="Text 30"/>
          <p:cNvSpPr/>
          <p:nvPr/>
        </p:nvSpPr>
        <p:spPr>
          <a:xfrm>
            <a:off x="4864608" y="4005072"/>
            <a:ext cx="398678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Does the system handle edge cases (missing topics, auth, fallbacks)?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4864608" y="4389120"/>
            <a:ext cx="3986784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Inject failure conditions: missing topic, bad owner resolution, empty retrieval.</a:t>
            </a:r>
            <a:endParaRPr lang="en-US" sz="1000" dirty="0"/>
          </a:p>
        </p:txBody>
      </p:sp>
      <p:sp>
        <p:nvSpPr>
          <p:cNvPr id="38" name="Shape 32"/>
          <p:cNvSpPr/>
          <p:nvPr/>
        </p:nvSpPr>
        <p:spPr>
          <a:xfrm>
            <a:off x="5696712" y="3520440"/>
            <a:ext cx="3154680" cy="347472"/>
          </a:xfrm>
          <a:prstGeom prst="roundRect">
            <a:avLst>
              <a:gd name="adj" fmla="val 13158"/>
            </a:avLst>
          </a:prstGeom>
          <a:solidFill>
            <a:srgbClr val="8B5CF6">
              <a:alpha val="30000"/>
            </a:srgbClr>
          </a:solidFill>
          <a:ln w="1016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3"/>
          <p:cNvSpPr/>
          <p:nvPr/>
        </p:nvSpPr>
        <p:spPr>
          <a:xfrm>
            <a:off x="5696712" y="3520440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Metric: Fallback trigger rate, graceful error handling %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76656"/>
            <a:ext cx="914400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56032" y="109728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059669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56032" y="10972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737360" y="91440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Behavior &amp; Key Findings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0" y="4910328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ScholarAI  ·  RAG + Multi-Agent Learning Platform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74320" y="868680"/>
            <a:ext cx="2743200" cy="1600200"/>
          </a:xfrm>
          <a:prstGeom prst="rect">
            <a:avLst/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74320" y="932688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4400" dirty="0"/>
          </a:p>
        </p:txBody>
      </p:sp>
      <p:sp>
        <p:nvSpPr>
          <p:cNvPr id="10" name="Shape 8"/>
          <p:cNvSpPr/>
          <p:nvPr/>
        </p:nvSpPr>
        <p:spPr>
          <a:xfrm>
            <a:off x="731520" y="1600200"/>
            <a:ext cx="1828800" cy="27432"/>
          </a:xfrm>
          <a:prstGeom prst="rect">
            <a:avLst/>
          </a:prstGeom>
          <a:solidFill>
            <a:srgbClr val="10B981">
              <a:alpha val="6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164592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loop completes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consistently in all test scenarios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18688" y="868680"/>
            <a:ext cx="2743200" cy="1600200"/>
          </a:xfrm>
          <a:prstGeom prst="rect">
            <a:avLst/>
          </a:prstGeom>
          <a:solidFill>
            <a:srgbClr val="1E293B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18688" y="932688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RAG</a:t>
            </a:r>
            <a:endParaRPr lang="en-US" sz="4400" dirty="0"/>
          </a:p>
        </p:txBody>
      </p:sp>
      <p:sp>
        <p:nvSpPr>
          <p:cNvPr id="14" name="Shape 12"/>
          <p:cNvSpPr/>
          <p:nvPr/>
        </p:nvSpPr>
        <p:spPr>
          <a:xfrm>
            <a:off x="3675888" y="1600200"/>
            <a:ext cx="1828800" cy="27432"/>
          </a:xfrm>
          <a:prstGeom prst="rect">
            <a:avLst/>
          </a:prstGeom>
          <a:solidFill>
            <a:srgbClr val="0D9488">
              <a:alpha val="6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310128" y="164592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Q&amp;A responses grounded in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docs — no hallucinations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63056" y="868680"/>
            <a:ext cx="2743200" cy="1600200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163056" y="932688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2×</a:t>
            </a:r>
            <a:endParaRPr lang="en-US" sz="4400" dirty="0"/>
          </a:p>
        </p:txBody>
      </p:sp>
      <p:sp>
        <p:nvSpPr>
          <p:cNvPr id="18" name="Shape 16"/>
          <p:cNvSpPr/>
          <p:nvPr/>
        </p:nvSpPr>
        <p:spPr>
          <a:xfrm>
            <a:off x="6620256" y="1600200"/>
            <a:ext cx="1828800" cy="27432"/>
          </a:xfrm>
          <a:prstGeom prst="rect">
            <a:avLst/>
          </a:prstGeom>
          <a:solidFill>
            <a:srgbClr val="3B82F6">
              <a:alpha val="60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254496" y="164592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fully separated — Prof and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workflows operate in RT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4320" y="265176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Behavioral Findings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74320" y="3063240"/>
            <a:ext cx="4251960" cy="685800"/>
          </a:xfrm>
          <a:prstGeom prst="rect">
            <a:avLst/>
          </a:prstGeom>
          <a:solidFill>
            <a:srgbClr val="0F172A"/>
          </a:solidFill>
          <a:ln w="1016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74320" y="3063240"/>
            <a:ext cx="54864" cy="6858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182112"/>
            <a:ext cx="438912" cy="438912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969264" y="3063240"/>
            <a:ext cx="34564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can freely explore personal topics with their own uploaded files — independent of the course structure.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736592" y="3063240"/>
            <a:ext cx="4251960" cy="685800"/>
          </a:xfrm>
          <a:prstGeom prst="rect">
            <a:avLst/>
          </a:prstGeom>
          <a:solidFill>
            <a:srgbClr val="0F172A"/>
          </a:solidFill>
          <a:ln w="1016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4736592" y="3063240"/>
            <a:ext cx="54864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52" y="3182112"/>
            <a:ext cx="438912" cy="438912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5431536" y="3063240"/>
            <a:ext cx="34564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Course-invited students access professor-shared topic files seamlessly; ownership model holds without conflicts.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274320" y="3867912"/>
            <a:ext cx="4251960" cy="685800"/>
          </a:xfrm>
          <a:prstGeom prst="rect">
            <a:avLst/>
          </a:prstGeom>
          <a:solidFill>
            <a:srgbClr val="0F172A"/>
          </a:solidFill>
          <a:ln w="1016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6"/>
          <p:cNvSpPr/>
          <p:nvPr/>
        </p:nvSpPr>
        <p:spPr>
          <a:xfrm>
            <a:off x="274320" y="3867912"/>
            <a:ext cx="54864" cy="6858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3986784"/>
            <a:ext cx="438912" cy="438912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969264" y="3867912"/>
            <a:ext cx="34564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and permission controls maintain full workflow integrity — students can't access or modify professor materials.</a:t>
            </a:r>
            <a:endParaRPr lang="en-US" sz="1100" dirty="0"/>
          </a:p>
        </p:txBody>
      </p:sp>
      <p:sp>
        <p:nvSpPr>
          <p:cNvPr id="33" name="Shape 28"/>
          <p:cNvSpPr/>
          <p:nvPr/>
        </p:nvSpPr>
        <p:spPr>
          <a:xfrm>
            <a:off x="4736592" y="3867912"/>
            <a:ext cx="4251960" cy="685800"/>
          </a:xfrm>
          <a:prstGeom prst="rect">
            <a:avLst/>
          </a:prstGeom>
          <a:solidFill>
            <a:srgbClr val="0F172A"/>
          </a:solidFill>
          <a:ln w="1016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29"/>
          <p:cNvSpPr/>
          <p:nvPr/>
        </p:nvSpPr>
        <p:spPr>
          <a:xfrm>
            <a:off x="4736592" y="3867912"/>
            <a:ext cx="54864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3752" y="3986784"/>
            <a:ext cx="438912" cy="438912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5431536" y="3867912"/>
            <a:ext cx="34564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heuristic answer matching occasionally misses semantically equivalent responses — known limitation.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76656"/>
            <a:ext cx="914400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56032" y="109728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059669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56032" y="10972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737360" y="91440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Known Limitations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0" y="4910328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ScholarAI  ·  RAG + Multi-Agent Learning Platform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74320" y="960120"/>
            <a:ext cx="859536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4320" y="960120"/>
            <a:ext cx="64008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38912" y="1124712"/>
            <a:ext cx="493776" cy="493776"/>
          </a:xfrm>
          <a:prstGeom prst="ellipse">
            <a:avLst/>
          </a:prstGeom>
          <a:solidFill>
            <a:srgbClr val="F59E0B">
              <a:alpha val="55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152144"/>
            <a:ext cx="420624" cy="42062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78992" y="996696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Document Quality Dependency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078992" y="1362456"/>
            <a:ext cx="7635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output quality is capped by what's in the uploaded files. Poor or sparse documents yield weak responses.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74320" y="1947672"/>
            <a:ext cx="859536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274320" y="1947672"/>
            <a:ext cx="64008" cy="8229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38912" y="2112264"/>
            <a:ext cx="493776" cy="493776"/>
          </a:xfrm>
          <a:prstGeom prst="ellipse">
            <a:avLst/>
          </a:prstGeom>
          <a:solidFill>
            <a:srgbClr val="EF4444">
              <a:alpha val="55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2139696"/>
            <a:ext cx="420624" cy="42062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078992" y="198424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Shallow Answer Matching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1078992" y="2350008"/>
            <a:ext cx="7635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grading uses simple heuristics. Semantically equivalent answers can be wrongly marked incorrect.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274320" y="2935224"/>
            <a:ext cx="859536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274320" y="2935224"/>
            <a:ext cx="64008" cy="82296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438912" y="3099816"/>
            <a:ext cx="493776" cy="493776"/>
          </a:xfrm>
          <a:prstGeom prst="ellipse">
            <a:avLst/>
          </a:prstGeom>
          <a:solidFill>
            <a:srgbClr val="64748B">
              <a:alpha val="55000"/>
            </a:srgbClr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" y="3127248"/>
            <a:ext cx="420624" cy="42062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078992" y="297180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Analytics Dashboard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1078992" y="3337560"/>
            <a:ext cx="7635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There's no cohort-level view for instructors yet — only per-student score data is visible today.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274320" y="3922776"/>
            <a:ext cx="859536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2"/>
          <p:cNvSpPr/>
          <p:nvPr/>
        </p:nvSpPr>
        <p:spPr>
          <a:xfrm>
            <a:off x="274320" y="3922776"/>
            <a:ext cx="64008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3"/>
          <p:cNvSpPr/>
          <p:nvPr/>
        </p:nvSpPr>
        <p:spPr>
          <a:xfrm>
            <a:off x="438912" y="4087368"/>
            <a:ext cx="493776" cy="493776"/>
          </a:xfrm>
          <a:prstGeom prst="ellipse">
            <a:avLst/>
          </a:prstGeom>
          <a:solidFill>
            <a:srgbClr val="F59E0B">
              <a:alpha val="55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" y="4114800"/>
            <a:ext cx="420624" cy="420624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078992" y="395935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Topic-Owner Consistency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1078992" y="4325112"/>
            <a:ext cx="7635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topic or owner metadata is inconsistent, the retrieval routing can fail silently and return empty context.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limitation is understood and has a clear mitigation path — see Future Work.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76656"/>
            <a:ext cx="914400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56032" y="109728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059669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56032" y="10972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737360" y="91440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Comes Next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0" y="4910328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ScholarAI  ·  RAG + Multi-Agent Learning Platform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74320" y="914400"/>
            <a:ext cx="2743200" cy="1828800"/>
          </a:xfrm>
          <a:prstGeom prst="rect">
            <a:avLst/>
          </a:prstGeom>
          <a:solidFill>
            <a:srgbClr val="0F172A"/>
          </a:solidFill>
          <a:ln w="1524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691640" y="1005840"/>
            <a:ext cx="1188720" cy="274320"/>
          </a:xfrm>
          <a:prstGeom prst="roundRect">
            <a:avLst>
              <a:gd name="adj" fmla="val 16667"/>
            </a:avLst>
          </a:prstGeom>
          <a:solidFill>
            <a:srgbClr val="10B981">
              <a:alpha val="4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691640" y="10058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Near-term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84048" y="1005840"/>
            <a:ext cx="658368" cy="658368"/>
          </a:xfrm>
          <a:prstGeom prst="ellipse">
            <a:avLst/>
          </a:prstGeom>
          <a:solidFill>
            <a:srgbClr val="10B981">
              <a:alpha val="55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" y="1042416"/>
            <a:ext cx="585216" cy="58521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365760" y="173736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Semantic Grading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84048" y="2121408"/>
            <a:ext cx="252374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heuristic matching with embedding-based semantic similarity and rubric-aware scoring.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218688" y="914400"/>
            <a:ext cx="2743200" cy="1828800"/>
          </a:xfrm>
          <a:prstGeom prst="rect">
            <a:avLst/>
          </a:prstGeom>
          <a:solidFill>
            <a:srgbClr val="0F172A"/>
          </a:solidFill>
          <a:ln w="1524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636008" y="1005840"/>
            <a:ext cx="1188720" cy="274320"/>
          </a:xfrm>
          <a:prstGeom prst="roundRect">
            <a:avLst>
              <a:gd name="adj" fmla="val 16667"/>
            </a:avLst>
          </a:prstGeom>
          <a:solidFill>
            <a:srgbClr val="0D9488">
              <a:alpha val="4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636008" y="10058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Near-term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328416" y="1005840"/>
            <a:ext cx="658368" cy="658368"/>
          </a:xfrm>
          <a:prstGeom prst="ellipse">
            <a:avLst/>
          </a:prstGeom>
          <a:solidFill>
            <a:srgbClr val="0D9488">
              <a:alpha val="55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4992" y="1042416"/>
            <a:ext cx="585216" cy="585216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310128" y="173736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Auto-Remediation Plans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3328416" y="2121408"/>
            <a:ext cx="252374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quiz grading, automatically generate per-student study plans targeting identified weak concepts.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6163056" y="914400"/>
            <a:ext cx="2743200" cy="1828800"/>
          </a:xfrm>
          <a:prstGeom prst="rect">
            <a:avLst/>
          </a:prstGeom>
          <a:solidFill>
            <a:srgbClr val="0F172A"/>
          </a:solidFill>
          <a:ln w="1524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7580376" y="1005840"/>
            <a:ext cx="1188720" cy="274320"/>
          </a:xfrm>
          <a:prstGeom prst="roundRect">
            <a:avLst>
              <a:gd name="adj" fmla="val 16667"/>
            </a:avLst>
          </a:prstGeom>
          <a:solidFill>
            <a:srgbClr val="3B82F6">
              <a:alpha val="40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7580376" y="10058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Mid-term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6272784" y="1005840"/>
            <a:ext cx="658368" cy="658368"/>
          </a:xfrm>
          <a:prstGeom prst="ellipse">
            <a:avLst/>
          </a:prstGeom>
          <a:solidFill>
            <a:srgbClr val="3B82F6">
              <a:alpha val="55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1042416"/>
            <a:ext cx="585216" cy="585216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254496" y="173736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Instructor Analytics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6272784" y="2121408"/>
            <a:ext cx="252374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Cohort-level dashboards: concept mastery trends, at-risk student flags, per-question difficulty.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274320" y="2926080"/>
            <a:ext cx="2743200" cy="1828800"/>
          </a:xfrm>
          <a:prstGeom prst="rect">
            <a:avLst/>
          </a:prstGeom>
          <a:solidFill>
            <a:srgbClr val="0F172A"/>
          </a:solidFill>
          <a:ln w="1524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5"/>
          <p:cNvSpPr/>
          <p:nvPr/>
        </p:nvSpPr>
        <p:spPr>
          <a:xfrm>
            <a:off x="1691640" y="3017520"/>
            <a:ext cx="1188720" cy="274320"/>
          </a:xfrm>
          <a:prstGeom prst="roundRect">
            <a:avLst>
              <a:gd name="adj" fmla="val 16667"/>
            </a:avLst>
          </a:prstGeom>
          <a:solidFill>
            <a:srgbClr val="8B5CF6">
              <a:alpha val="40000"/>
            </a:srgbClr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6"/>
          <p:cNvSpPr/>
          <p:nvPr/>
        </p:nvSpPr>
        <p:spPr>
          <a:xfrm>
            <a:off x="1691640" y="3017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Mid-term</a:t>
            </a:r>
            <a:endParaRPr lang="en-US" sz="900" dirty="0"/>
          </a:p>
        </p:txBody>
      </p:sp>
      <p:sp>
        <p:nvSpPr>
          <p:cNvPr id="32" name="Shape 27"/>
          <p:cNvSpPr/>
          <p:nvPr/>
        </p:nvSpPr>
        <p:spPr>
          <a:xfrm>
            <a:off x="384048" y="3017520"/>
            <a:ext cx="658368" cy="658368"/>
          </a:xfrm>
          <a:prstGeom prst="ellipse">
            <a:avLst/>
          </a:prstGeom>
          <a:solidFill>
            <a:srgbClr val="8B5CF6">
              <a:alpha val="55000"/>
            </a:srgbClr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624" y="3054096"/>
            <a:ext cx="585216" cy="585216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365760" y="374904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LMS Integration</a:t>
            </a:r>
            <a:endParaRPr lang="en-US" sz="1200" dirty="0"/>
          </a:p>
        </p:txBody>
      </p:sp>
      <p:sp>
        <p:nvSpPr>
          <p:cNvPr id="35" name="Text 29"/>
          <p:cNvSpPr/>
          <p:nvPr/>
        </p:nvSpPr>
        <p:spPr>
          <a:xfrm>
            <a:off x="384048" y="4133088"/>
            <a:ext cx="252374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Canvas / Moodle API integration for quiz sync, grade passback, and roster management.</a:t>
            </a:r>
            <a:endParaRPr lang="en-US" sz="1000" dirty="0"/>
          </a:p>
        </p:txBody>
      </p:sp>
      <p:sp>
        <p:nvSpPr>
          <p:cNvPr id="36" name="Shape 30"/>
          <p:cNvSpPr/>
          <p:nvPr/>
        </p:nvSpPr>
        <p:spPr>
          <a:xfrm>
            <a:off x="3218688" y="2926080"/>
            <a:ext cx="2743200" cy="1828800"/>
          </a:xfrm>
          <a:prstGeom prst="rect">
            <a:avLst/>
          </a:prstGeom>
          <a:solidFill>
            <a:srgbClr val="0F172A"/>
          </a:solidFill>
          <a:ln w="1524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1"/>
          <p:cNvSpPr/>
          <p:nvPr/>
        </p:nvSpPr>
        <p:spPr>
          <a:xfrm>
            <a:off x="4636008" y="3017520"/>
            <a:ext cx="1188720" cy="274320"/>
          </a:xfrm>
          <a:prstGeom prst="roundRect">
            <a:avLst>
              <a:gd name="adj" fmla="val 16667"/>
            </a:avLst>
          </a:prstGeom>
          <a:solidFill>
            <a:srgbClr val="F59E0B">
              <a:alpha val="4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2"/>
          <p:cNvSpPr/>
          <p:nvPr/>
        </p:nvSpPr>
        <p:spPr>
          <a:xfrm>
            <a:off x="4636008" y="3017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</a:t>
            </a:r>
            <a:endParaRPr lang="en-US" sz="900" dirty="0"/>
          </a:p>
        </p:txBody>
      </p:sp>
      <p:sp>
        <p:nvSpPr>
          <p:cNvPr id="39" name="Shape 33"/>
          <p:cNvSpPr/>
          <p:nvPr/>
        </p:nvSpPr>
        <p:spPr>
          <a:xfrm>
            <a:off x="3328416" y="3017520"/>
            <a:ext cx="658368" cy="658368"/>
          </a:xfrm>
          <a:prstGeom prst="ellipse">
            <a:avLst/>
          </a:prstGeom>
          <a:solidFill>
            <a:srgbClr val="F59E0B">
              <a:alpha val="55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4992" y="3054096"/>
            <a:ext cx="585216" cy="585216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3310128" y="374904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Stronger Agent Memory</a:t>
            </a:r>
            <a:endParaRPr lang="en-US" sz="1200" dirty="0"/>
          </a:p>
        </p:txBody>
      </p:sp>
      <p:sp>
        <p:nvSpPr>
          <p:cNvPr id="42" name="Text 35"/>
          <p:cNvSpPr/>
          <p:nvPr/>
        </p:nvSpPr>
        <p:spPr>
          <a:xfrm>
            <a:off x="3328416" y="4133088"/>
            <a:ext cx="252374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student profiles with learning history so agents personalize across multiple sessions.</a:t>
            </a:r>
            <a:endParaRPr lang="en-US" sz="1000" dirty="0"/>
          </a:p>
        </p:txBody>
      </p:sp>
      <p:sp>
        <p:nvSpPr>
          <p:cNvPr id="43" name="Shape 36"/>
          <p:cNvSpPr/>
          <p:nvPr/>
        </p:nvSpPr>
        <p:spPr>
          <a:xfrm>
            <a:off x="6163056" y="2926080"/>
            <a:ext cx="2743200" cy="1828800"/>
          </a:xfrm>
          <a:prstGeom prst="rect">
            <a:avLst/>
          </a:prstGeom>
          <a:solidFill>
            <a:srgbClr val="0F172A"/>
          </a:solidFill>
          <a:ln w="1524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37"/>
          <p:cNvSpPr/>
          <p:nvPr/>
        </p:nvSpPr>
        <p:spPr>
          <a:xfrm>
            <a:off x="7580376" y="3017520"/>
            <a:ext cx="1188720" cy="274320"/>
          </a:xfrm>
          <a:prstGeom prst="roundRect">
            <a:avLst>
              <a:gd name="adj" fmla="val 16667"/>
            </a:avLst>
          </a:prstGeom>
          <a:solidFill>
            <a:srgbClr val="34D399">
              <a:alpha val="40000"/>
            </a:srgbClr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38"/>
          <p:cNvSpPr/>
          <p:nvPr/>
        </p:nvSpPr>
        <p:spPr>
          <a:xfrm>
            <a:off x="7580376" y="3017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</a:t>
            </a:r>
            <a:endParaRPr lang="en-US" sz="900" dirty="0"/>
          </a:p>
        </p:txBody>
      </p:sp>
      <p:sp>
        <p:nvSpPr>
          <p:cNvPr id="46" name="Shape 39"/>
          <p:cNvSpPr/>
          <p:nvPr/>
        </p:nvSpPr>
        <p:spPr>
          <a:xfrm>
            <a:off x="6272784" y="3017520"/>
            <a:ext cx="658368" cy="658368"/>
          </a:xfrm>
          <a:prstGeom prst="ellipse">
            <a:avLst/>
          </a:prstGeom>
          <a:solidFill>
            <a:srgbClr val="34D399">
              <a:alpha val="55000"/>
            </a:srgbClr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9360" y="3054096"/>
            <a:ext cx="585216" cy="585216"/>
          </a:xfrm>
          <a:prstGeom prst="rect">
            <a:avLst/>
          </a:prstGeom>
        </p:spPr>
      </p:pic>
      <p:sp>
        <p:nvSpPr>
          <p:cNvPr id="48" name="Text 40"/>
          <p:cNvSpPr/>
          <p:nvPr/>
        </p:nvSpPr>
        <p:spPr>
          <a:xfrm>
            <a:off x="6254496" y="374904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Adaptive Quiz Difficulty</a:t>
            </a:r>
            <a:endParaRPr lang="en-US" sz="1200" dirty="0"/>
          </a:p>
        </p:txBody>
      </p:sp>
      <p:sp>
        <p:nvSpPr>
          <p:cNvPr id="49" name="Text 41"/>
          <p:cNvSpPr/>
          <p:nvPr/>
        </p:nvSpPr>
        <p:spPr>
          <a:xfrm>
            <a:off x="6272784" y="4133088"/>
            <a:ext cx="252374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Dynamically adjust question difficulty based on student performance history and concept mastery.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365760"/>
            <a:ext cx="822960" cy="822960"/>
          </a:xfrm>
          <a:prstGeom prst="ellipse">
            <a:avLst/>
          </a:prstGeom>
          <a:solidFill>
            <a:srgbClr val="059669">
              <a:alpha val="45000"/>
            </a:srgbClr>
          </a:solidFill>
          <a:ln w="1524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863840" y="228600"/>
            <a:ext cx="548640" cy="548640"/>
          </a:xfrm>
          <a:prstGeom prst="ellipse">
            <a:avLst/>
          </a:prstGeom>
          <a:solidFill>
            <a:srgbClr val="0D9488">
              <a:alpha val="40000"/>
            </a:srgbClr>
          </a:solidFill>
          <a:ln w="1524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412480" y="685800"/>
            <a:ext cx="694944" cy="694944"/>
          </a:xfrm>
          <a:prstGeom prst="ellipse">
            <a:avLst/>
          </a:prstGeom>
          <a:solidFill>
            <a:srgbClr val="10B981">
              <a:alpha val="35000"/>
            </a:srgbClr>
          </a:solidFill>
          <a:ln w="1524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406640" y="960120"/>
            <a:ext cx="585216" cy="585216"/>
          </a:xfrm>
          <a:prstGeom prst="ellipse">
            <a:avLst/>
          </a:prstGeom>
          <a:solidFill>
            <a:srgbClr val="34D399">
              <a:alpha val="30000"/>
            </a:srgbClr>
          </a:solidFill>
          <a:ln w="1524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595360" y="1417320"/>
            <a:ext cx="512064" cy="512064"/>
          </a:xfrm>
          <a:prstGeom prst="ellipse">
            <a:avLst/>
          </a:prstGeom>
          <a:solidFill>
            <a:srgbClr val="0D9488">
              <a:alpha val="35000"/>
            </a:srgbClr>
          </a:solidFill>
          <a:ln w="1524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269480" y="777240"/>
            <a:ext cx="868680" cy="0"/>
          </a:xfrm>
          <a:prstGeom prst="line">
            <a:avLst/>
          </a:prstGeom>
          <a:noFill/>
          <a:ln w="8890">
            <a:solidFill>
              <a:srgbClr val="34D399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138160" y="502920"/>
            <a:ext cx="621792" cy="530352"/>
          </a:xfrm>
          <a:prstGeom prst="line">
            <a:avLst/>
          </a:prstGeom>
          <a:noFill/>
          <a:ln w="8890">
            <a:solidFill>
              <a:srgbClr val="34D399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269480" y="777240"/>
            <a:ext cx="429768" cy="475488"/>
          </a:xfrm>
          <a:prstGeom prst="line">
            <a:avLst/>
          </a:prstGeom>
          <a:noFill/>
          <a:ln w="8890">
            <a:solidFill>
              <a:srgbClr val="34D399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759952" y="1033272"/>
            <a:ext cx="91440" cy="640080"/>
          </a:xfrm>
          <a:prstGeom prst="line">
            <a:avLst/>
          </a:prstGeom>
          <a:noFill/>
          <a:ln w="8890">
            <a:solidFill>
              <a:srgbClr val="34D399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699248" y="1252728"/>
            <a:ext cx="1152144" cy="420624"/>
          </a:xfrm>
          <a:prstGeom prst="line">
            <a:avLst/>
          </a:prstGeom>
          <a:noFill/>
          <a:ln w="8890">
            <a:solidFill>
              <a:srgbClr val="34D399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2008" y="429768"/>
            <a:ext cx="694944" cy="69494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65760" y="18288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4400" dirty="0"/>
          </a:p>
        </p:txBody>
      </p:sp>
      <p:sp>
        <p:nvSpPr>
          <p:cNvPr id="15" name="Shape 12"/>
          <p:cNvSpPr/>
          <p:nvPr/>
        </p:nvSpPr>
        <p:spPr>
          <a:xfrm>
            <a:off x="365760" y="987552"/>
            <a:ext cx="502920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274320" y="1143000"/>
            <a:ext cx="8595360" cy="804672"/>
          </a:xfrm>
          <a:prstGeom prst="rect">
            <a:avLst/>
          </a:prstGeom>
          <a:solidFill>
            <a:srgbClr val="1E293B"/>
          </a:solidFill>
          <a:ln w="15240">
            <a:solidFill>
              <a:srgbClr val="10B981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274320" y="1143000"/>
            <a:ext cx="64008" cy="8046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411480" y="1234440"/>
            <a:ext cx="621792" cy="621792"/>
          </a:xfrm>
          <a:prstGeom prst="ellipse">
            <a:avLst/>
          </a:prstGeom>
          <a:solidFill>
            <a:srgbClr val="10B981">
              <a:alpha val="55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" y="1271016"/>
            <a:ext cx="548640" cy="54864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170432" y="1179576"/>
            <a:ext cx="7543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Practical GenAI — not just a chatbot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1170432" y="1527048"/>
            <a:ext cx="7543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ScholarAI combines RAG grounding, multi-agent routing, and role-aware workflows into a coherent educational system.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274320" y="2075688"/>
            <a:ext cx="8595360" cy="804672"/>
          </a:xfrm>
          <a:prstGeom prst="rect">
            <a:avLst/>
          </a:prstGeom>
          <a:solidFill>
            <a:srgbClr val="1E293B"/>
          </a:solidFill>
          <a:ln w="15240">
            <a:solidFill>
              <a:srgbClr val="0D9488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274320" y="2075688"/>
            <a:ext cx="64008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0"/>
          <p:cNvSpPr/>
          <p:nvPr/>
        </p:nvSpPr>
        <p:spPr>
          <a:xfrm>
            <a:off x="411480" y="2167128"/>
            <a:ext cx="621792" cy="621792"/>
          </a:xfrm>
          <a:prstGeom prst="ellipse">
            <a:avLst/>
          </a:prstGeom>
          <a:solidFill>
            <a:srgbClr val="0D9488">
              <a:alpha val="55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056" y="2203704"/>
            <a:ext cx="548640" cy="54864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1170432" y="2112264"/>
            <a:ext cx="7543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closed loop is the differentiator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1170432" y="2459736"/>
            <a:ext cx="7543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from: assign a quiz → get a score, to: assign → submit → explain → remediate → plan — is what makes this a learning tool, not just a quiz tool.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274320" y="3008376"/>
            <a:ext cx="8595360" cy="804672"/>
          </a:xfrm>
          <a:prstGeom prst="rect">
            <a:avLst/>
          </a:prstGeom>
          <a:solidFill>
            <a:srgbClr val="1E293B"/>
          </a:solidFill>
          <a:ln w="15240">
            <a:solidFill>
              <a:srgbClr val="3B82F6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4"/>
          <p:cNvSpPr/>
          <p:nvPr/>
        </p:nvSpPr>
        <p:spPr>
          <a:xfrm>
            <a:off x="274320" y="3008376"/>
            <a:ext cx="64008" cy="8046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5"/>
          <p:cNvSpPr/>
          <p:nvPr/>
        </p:nvSpPr>
        <p:spPr>
          <a:xfrm>
            <a:off x="411480" y="3099816"/>
            <a:ext cx="621792" cy="621792"/>
          </a:xfrm>
          <a:prstGeom prst="ellipse">
            <a:avLst/>
          </a:prstGeom>
          <a:solidFill>
            <a:srgbClr val="3B82F6">
              <a:alpha val="55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056" y="3136392"/>
            <a:ext cx="548640" cy="54864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1170432" y="3044952"/>
            <a:ext cx="7543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Grounding makes GenAI trustworthy in education</a:t>
            </a:r>
            <a:endParaRPr lang="en-US" sz="1300" dirty="0"/>
          </a:p>
        </p:txBody>
      </p:sp>
      <p:sp>
        <p:nvSpPr>
          <p:cNvPr id="33" name="Text 27"/>
          <p:cNvSpPr/>
          <p:nvPr/>
        </p:nvSpPr>
        <p:spPr>
          <a:xfrm>
            <a:off x="1170432" y="3392424"/>
            <a:ext cx="7543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RAG, LLM responses are unreliable in course-specific contexts. Retrieval anchors every answer to actual instructional material.</a:t>
            </a:r>
            <a:endParaRPr lang="en-US" sz="1100" dirty="0"/>
          </a:p>
        </p:txBody>
      </p:sp>
      <p:sp>
        <p:nvSpPr>
          <p:cNvPr id="34" name="Shape 28"/>
          <p:cNvSpPr/>
          <p:nvPr/>
        </p:nvSpPr>
        <p:spPr>
          <a:xfrm>
            <a:off x="274320" y="3941064"/>
            <a:ext cx="8595360" cy="804672"/>
          </a:xfrm>
          <a:prstGeom prst="rect">
            <a:avLst/>
          </a:prstGeom>
          <a:solidFill>
            <a:srgbClr val="1E293B"/>
          </a:solidFill>
          <a:ln w="15240">
            <a:solidFill>
              <a:srgbClr val="8B5CF6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29"/>
          <p:cNvSpPr/>
          <p:nvPr/>
        </p:nvSpPr>
        <p:spPr>
          <a:xfrm>
            <a:off x="274320" y="3941064"/>
            <a:ext cx="64008" cy="8046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0"/>
          <p:cNvSpPr/>
          <p:nvPr/>
        </p:nvSpPr>
        <p:spPr>
          <a:xfrm>
            <a:off x="411480" y="4032504"/>
            <a:ext cx="621792" cy="621792"/>
          </a:xfrm>
          <a:prstGeom prst="ellipse">
            <a:avLst/>
          </a:prstGeom>
          <a:solidFill>
            <a:srgbClr val="8B5CF6">
              <a:alpha val="55000"/>
            </a:srgbClr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" y="4069080"/>
            <a:ext cx="548640" cy="548640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1170432" y="3977640"/>
            <a:ext cx="7543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Platform foundation for adaptive learning</a:t>
            </a:r>
            <a:endParaRPr lang="en-US" sz="1300" dirty="0"/>
          </a:p>
        </p:txBody>
      </p:sp>
      <p:sp>
        <p:nvSpPr>
          <p:cNvPr id="39" name="Text 32"/>
          <p:cNvSpPr/>
          <p:nvPr/>
        </p:nvSpPr>
        <p:spPr>
          <a:xfrm>
            <a:off x="1170432" y="4325112"/>
            <a:ext cx="7543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 on semantic grading, auto-remediation, and analytics turns ScholarAI into a full adaptive learning platform.</a:t>
            </a:r>
            <a:endParaRPr lang="en-US" sz="1100" dirty="0"/>
          </a:p>
        </p:txBody>
      </p:sp>
      <p:sp>
        <p:nvSpPr>
          <p:cNvPr id="40" name="Shape 33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4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ScholarAI  ·  GenAI Class Project  ·  RAG + Multi-Agent Learning Platform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1220</Words>
  <Application>Microsoft Macintosh PowerPoint</Application>
  <PresentationFormat>On-screen Show (16:9)</PresentationFormat>
  <Paragraphs>214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ScholarAI — RAG + Multi-Agent Learning Platform</dc:title>
  <dc:subject>PptxGenJS Presentation</dc:subject>
  <dc:creator>PptxGenJS</dc:creator>
  <cp:lastModifiedBy>Kiran Khatri</cp:lastModifiedBy>
  <cp:revision>1</cp:revision>
  <dcterms:created xsi:type="dcterms:W3CDTF">2026-05-13T06:58:08Z</dcterms:created>
  <dcterms:modified xsi:type="dcterms:W3CDTF">2026-05-13T07:02:06Z</dcterms:modified>
</cp:coreProperties>
</file>