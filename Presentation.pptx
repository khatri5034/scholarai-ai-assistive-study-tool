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653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0" y="320040"/>
            <a:ext cx="822960" cy="822960"/>
          </a:xfrm>
          <a:prstGeom prst="ellipse">
            <a:avLst/>
          </a:prstGeom>
          <a:solidFill>
            <a:srgbClr val="059669">
              <a:alpha val="45000"/>
            </a:srgbClr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182880"/>
            <a:ext cx="548640" cy="548640"/>
          </a:xfrm>
          <a:prstGeom prst="ellipse">
            <a:avLst/>
          </a:prstGeom>
          <a:solidFill>
            <a:srgbClr val="0D9488">
              <a:alpha val="4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0" y="640080"/>
            <a:ext cx="694944" cy="694944"/>
          </a:xfrm>
          <a:prstGeom prst="ellipse">
            <a:avLst/>
          </a:prstGeom>
          <a:solidFill>
            <a:srgbClr val="10B981">
              <a:alpha val="3500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23760" y="914400"/>
            <a:ext cx="585216" cy="585216"/>
          </a:xfrm>
          <a:prstGeom prst="ellipse">
            <a:avLst/>
          </a:prstGeom>
          <a:solidFill>
            <a:srgbClr val="34D399">
              <a:alpha val="30000"/>
            </a:srgbClr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512064" cy="512064"/>
          </a:xfrm>
          <a:prstGeom prst="ellipse">
            <a:avLst/>
          </a:prstGeom>
          <a:solidFill>
            <a:srgbClr val="0D9488">
              <a:alpha val="35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86600" y="731520"/>
            <a:ext cx="868680" cy="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457200"/>
            <a:ext cx="621792" cy="530352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86600" y="731520"/>
            <a:ext cx="429768" cy="475488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77072" y="987552"/>
            <a:ext cx="91440" cy="64008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16368" y="1207008"/>
            <a:ext cx="1152144" cy="420624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84048"/>
            <a:ext cx="694944" cy="6949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7772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</a:t>
            </a:r>
            <a:endParaRPr lang="en-US" sz="5800" dirty="0"/>
          </a:p>
        </p:txBody>
      </p:sp>
      <p:sp>
        <p:nvSpPr>
          <p:cNvPr id="15" name="Text 12"/>
          <p:cNvSpPr/>
          <p:nvPr/>
        </p:nvSpPr>
        <p:spPr>
          <a:xfrm>
            <a:off x="365760" y="17830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Multi-Agent Assistive Learning Platform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65760" y="2487168"/>
            <a:ext cx="5029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26060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GenAI system that closes the loop between quiz scores and personalized adaptive learning — using retrieval-augmented generation and multi-agent orchestration.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01368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801368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36976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36976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72584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72584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08192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08192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54380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59669">
              <a:alpha val="4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543800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8288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37160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46304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65176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74320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93192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02336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21208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30352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49224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58368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77240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86384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This Problem Matter?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2743200" cy="217627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144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= 0.05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777240" y="1645920"/>
            <a:ext cx="1828800" cy="274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700784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of score-only feedback on learning — near zero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246888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889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der Kleij et al., 2015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Education (40 studies)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4408" y="868680"/>
            <a:ext cx="2743200" cy="2176272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4408" y="9144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14–18:1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721608" y="1645920"/>
            <a:ext cx="1828800" cy="274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74136" y="1700784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faculty-to-student ratio in U.S. higher education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01568" y="2377440"/>
            <a:ext cx="246888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8890">
            <a:solidFill>
              <a:srgbClr val="EF444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01568" y="23774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for Education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(NCES), 2018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8776" y="868680"/>
            <a:ext cx="2743200" cy="2176272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08776" y="9144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6665976" y="1645920"/>
            <a:ext cx="1828800" cy="27432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18504" y="1700784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effect size for elaborated feedback vs. score-only (d=0.49 vs. d=0.05)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45936" y="2377440"/>
            <a:ext cx="2468880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889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45936" y="23774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der Kleij et al., 2015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Education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30175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Pain Points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20440"/>
            <a:ext cx="502920" cy="5029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05840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quiz scores but get no guided path to fix misconceptions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64408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520440"/>
            <a:ext cx="502920" cy="5029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950208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can't scale per-student feedback — manual workflows break past ~30 students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208776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3520440"/>
            <a:ext cx="502920" cy="5029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894576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LLMs hallucinate or give generic answers not grounded in course content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Others Are Doing — And Where They Fall Short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64008" cy="18105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5156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987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LLM Tutors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70432" y="13533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ChatGPT, Khanmigo, Socratic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" y="1664208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Answer student questions in natural language using a general-purpose LLM.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2336" y="2103120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17627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6384" y="2103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Not grounded in course-specific material. No quiz workflow. No instructor role.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914400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09160" y="914400"/>
            <a:ext cx="64008" cy="1810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05156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05272" y="987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RAG-Only Systems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605272" y="13533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LlamaIndex apps, custom chatbots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37176" y="1664208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Retrieve context from documents and inject into prompts for grounded Q&amp;A.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837176" y="2103120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7627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21224" y="2103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Single-mode: only Q&amp;A. No agents, no assessment loop, no role differentiation.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" y="2907792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274320" y="2907792"/>
            <a:ext cx="64008" cy="18105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44952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70432" y="29809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Quiz Tools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170432" y="33467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Canvas, Moodle, Google Forms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02336" y="365760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Assign and grade quizzes. Track scores. Manage submissions at scale.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02336" y="4096512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69664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86384" y="40965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AI explanations. No adaptive feedback. Score is the end of the loop.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709160" y="2907792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4709160" y="2907792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044952"/>
            <a:ext cx="594360" cy="5943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605272" y="29809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Frameworks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5605272" y="33467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AutoGPT, LangGraph, CrewAI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837176" y="365760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Multi-agent orchestration for complex workflows using LLM tool-calling.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4837176" y="4096512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4169664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21224" y="40965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General-purpose — not tailored to education, assessment, or grounding.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ScholarAI: Combining the Best of All Worlds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059669">
              <a:alpha val="35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840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896112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unify RAG grounding + multi-agent task routing + role-aware assessment workflows in a single platform.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4320" y="1719072"/>
            <a:ext cx="859536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17190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80560" y="17190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0" y="171907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176272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17627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8912" y="21762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(RAG)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80560" y="21762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/ partial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46520" y="2249424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45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46520" y="22494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2706624"/>
            <a:ext cx="8595360" cy="475488"/>
          </a:xfrm>
          <a:prstGeom prst="rect">
            <a:avLst/>
          </a:prstGeom>
          <a:solidFill>
            <a:srgbClr val="0F172A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2706624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8912" y="270662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task routing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480560" y="27066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46520" y="2779776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0D9488">
              <a:alpha val="45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46520" y="2779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modes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3236976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4320" y="3236976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38912" y="323697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(Prof + Student)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480560" y="32369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46520" y="331012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3B82F6">
              <a:alpha val="45000"/>
            </a:srgbClr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446520" y="33101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74320" y="3767328"/>
            <a:ext cx="8595360" cy="475488"/>
          </a:xfrm>
          <a:prstGeom prst="rect">
            <a:avLst/>
          </a:prstGeom>
          <a:solidFill>
            <a:srgbClr val="0F172A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74320" y="3767328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8912" y="37673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assign → grade → explain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480560" y="37673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46520" y="384048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8B5CF6">
              <a:alpha val="45000"/>
            </a:srgbClr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446520" y="38404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Loop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74320" y="429768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38912" y="42976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480560" y="42976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446520" y="4370832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45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446520" y="43708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AI-gen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65176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822960"/>
            <a:ext cx="2651760" cy="411480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822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Layer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371600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408176"/>
            <a:ext cx="429768" cy="4297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5508" y="1874520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584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Upload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+ personal files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4048" y="2121408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157984"/>
            <a:ext cx="429768" cy="4297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5508" y="2624328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00584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&amp; Embed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0584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per topic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4048" y="2871216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907792"/>
            <a:ext cx="429768" cy="4297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35508" y="3374136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1005840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0584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 chunks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84048" y="3621024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657600"/>
            <a:ext cx="429768" cy="4297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3621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Injection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05840" y="3877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agent prompt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154680" y="822960"/>
            <a:ext cx="283464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154680" y="822960"/>
            <a:ext cx="2834640" cy="41148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154680" y="822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Router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29184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Detection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3246120" y="28346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916936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776472" y="28346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4617720" y="28346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2916936"/>
            <a:ext cx="438912" cy="43891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148072" y="28346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3246120" y="3584448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28" y="3666744"/>
            <a:ext cx="438912" cy="43891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776472" y="358444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4617720" y="3584448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666744"/>
            <a:ext cx="438912" cy="43891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148072" y="358444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6217920" y="822960"/>
            <a:ext cx="274320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6217920" y="822960"/>
            <a:ext cx="2743200" cy="41148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8"/>
          <p:cNvSpPr/>
          <p:nvPr/>
        </p:nvSpPr>
        <p:spPr>
          <a:xfrm>
            <a:off x="621792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1325880"/>
            <a:ext cx="548640" cy="54864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150608" y="1353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200" dirty="0"/>
          </a:p>
        </p:txBody>
      </p:sp>
      <p:sp>
        <p:nvSpPr>
          <p:cNvPr id="52" name="Text 40"/>
          <p:cNvSpPr/>
          <p:nvPr/>
        </p:nvSpPr>
        <p:spPr>
          <a:xfrm>
            <a:off x="7150608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 / Student)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6217920" y="288036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2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3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429000"/>
            <a:ext cx="438912" cy="438912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6858000" y="34290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</a:t>
            </a:r>
            <a:endParaRPr lang="en-US" sz="110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087368"/>
            <a:ext cx="438912" cy="438912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6858000" y="40873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(topic-owner)</a:t>
            </a:r>
            <a:endParaRPr lang="en-US" sz="1100" dirty="0"/>
          </a:p>
        </p:txBody>
      </p:sp>
      <p:sp>
        <p:nvSpPr>
          <p:cNvPr id="60" name="Shape 46"/>
          <p:cNvSpPr/>
          <p:nvPr/>
        </p:nvSpPr>
        <p:spPr>
          <a:xfrm>
            <a:off x="2880360" y="2834640"/>
            <a:ext cx="256032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47"/>
          <p:cNvSpPr/>
          <p:nvPr/>
        </p:nvSpPr>
        <p:spPr>
          <a:xfrm>
            <a:off x="3072384" y="2743200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48"/>
          <p:cNvSpPr/>
          <p:nvPr/>
        </p:nvSpPr>
        <p:spPr>
          <a:xfrm>
            <a:off x="5989320" y="26517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49"/>
          <p:cNvSpPr/>
          <p:nvPr/>
        </p:nvSpPr>
        <p:spPr>
          <a:xfrm>
            <a:off x="6126480" y="2560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Learning Loop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1298448" cy="411480"/>
          </a:xfrm>
          <a:prstGeom prst="rect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45920"/>
            <a:ext cx="694944" cy="6949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 uploads course docs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572768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591056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682496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682496" y="1097280"/>
            <a:ext cx="1298448" cy="411480"/>
          </a:xfrm>
          <a:prstGeom prst="rect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682496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1645920"/>
            <a:ext cx="694944" cy="6949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82496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Create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746504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MCQ/short-answer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980944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999232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090672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090672" y="1097280"/>
            <a:ext cx="1298448" cy="411480"/>
          </a:xfrm>
          <a:prstGeom prst="rect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090672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1645920"/>
            <a:ext cx="694944" cy="6949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090672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3154680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answers in-platform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389120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407408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498848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498848" y="1097280"/>
            <a:ext cx="1298448" cy="411480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4498848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645920"/>
            <a:ext cx="694944" cy="6949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498848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Auto-Grade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562856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answer key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5797296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815584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5907024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5907024" y="1097280"/>
            <a:ext cx="1298448" cy="411480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5907024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1645920"/>
            <a:ext cx="694944" cy="69494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907024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5971032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explains each answer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7205472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7223760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7315200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7315200" y="1097280"/>
            <a:ext cx="1298448" cy="411480"/>
          </a:xfrm>
          <a:prstGeom prst="rect">
            <a:avLst/>
          </a:prstGeom>
          <a:solidFill>
            <a:srgbClr val="34D399">
              <a:alpha val="5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7315200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1645920"/>
            <a:ext cx="694944" cy="694944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7315200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Plan</a:t>
            </a:r>
            <a:endParaRPr lang="en-US" sz="1300" dirty="0"/>
          </a:p>
        </p:txBody>
      </p:sp>
      <p:sp>
        <p:nvSpPr>
          <p:cNvPr id="53" name="Text 45"/>
          <p:cNvSpPr/>
          <p:nvPr/>
        </p:nvSpPr>
        <p:spPr>
          <a:xfrm>
            <a:off x="7379208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remediation</a:t>
            </a:r>
            <a:endParaRPr lang="en-US" sz="1050" dirty="0"/>
          </a:p>
        </p:txBody>
      </p:sp>
      <p:sp>
        <p:nvSpPr>
          <p:cNvPr id="54" name="Shape 46"/>
          <p:cNvSpPr/>
          <p:nvPr/>
        </p:nvSpPr>
        <p:spPr>
          <a:xfrm>
            <a:off x="274320" y="44622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59669">
              <a:alpha val="4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/>
          <p:nvPr/>
        </p:nvSpPr>
        <p:spPr>
          <a:xfrm>
            <a:off x="274320" y="44622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RAG-grounded (steps 1–3)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4800600" y="4462272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0D9488">
              <a:alpha val="4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9"/>
          <p:cNvSpPr/>
          <p:nvPr/>
        </p:nvSpPr>
        <p:spPr>
          <a:xfrm>
            <a:off x="4800600" y="446227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Agentic pipeline (steps 4–6)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Evaluated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069848"/>
            <a:ext cx="731520" cy="731520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106424"/>
            <a:ext cx="658368" cy="6583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9601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Groundedness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185623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responses stay within the uploaded document context?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" y="224028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Manually compare model output vs. retrieved chunks. Check for off-context fabrication.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234440" y="137160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34440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% responses citing retrieved material vs. hallucinated claims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36592" y="86868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73752" y="1069848"/>
            <a:ext cx="731520" cy="731520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106424"/>
            <a:ext cx="658368" cy="6583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24144" y="9601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Completion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64608" y="185623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full assign → submit → review loop complete reliably?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64608" y="224028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End-to-end workflow trace: professor assigns, student submits, auto-grade fires, results visible.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96712" y="137160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696712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% end-to-end runs completing without error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74320" y="301752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11480" y="3218688"/>
            <a:ext cx="731520" cy="731520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255264"/>
            <a:ext cx="658368" cy="6583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61872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02336" y="400507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real users operate both professor and student flows in real time?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02336" y="43891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Role-based walkthrough with test users. Measure time-to-complete per task.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1234440" y="352044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3B82F6">
              <a:alpha val="30000"/>
            </a:srgbClr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234440" y="35204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Task completion rate, time-on-task per workflow step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36592" y="301752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873752" y="3218688"/>
            <a:ext cx="731520" cy="731520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255264"/>
            <a:ext cx="658368" cy="6583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724144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864608" y="400507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system handle edge cases (missing topics, auth, fallbacks)?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864608" y="43891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Inject failure conditions: missing topic, bad owner resolution, empty retrieval.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696712" y="352044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8B5CF6">
              <a:alpha val="30000"/>
            </a:srgbClr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5696712" y="35204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Fallback trigger rate, graceful error handling 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Behavior &amp; Key Findings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1828800" cy="27432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loop completes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in all test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18688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3675888" y="1600200"/>
            <a:ext cx="1828800" cy="27432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Q&amp;A responses grounded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 — no hallucinations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620256" y="1600200"/>
            <a:ext cx="1828800" cy="27432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fully separated — Prof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workflows operate in 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Findings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54864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82112"/>
            <a:ext cx="438912" cy="4389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9264" y="306324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freely explore personal topics with their own uploaded files — independent of the course structure.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36592" y="3063240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36592" y="306324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182112"/>
            <a:ext cx="438912" cy="43891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31536" y="306324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Course-invited students access professor-shared topic files seamlessly; ownership model holds without conflicts.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4320" y="3867912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274320" y="3867912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86784"/>
            <a:ext cx="438912" cy="43891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69264" y="3867912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permission controls maintain full workflow integrity — students can't access or modify professor materials.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736592" y="3867912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4736592" y="3867912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86784"/>
            <a:ext cx="438912" cy="43891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31536" y="3867912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heuristic answer matching occasionally misses semantically equivalent responses — known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" y="1124712"/>
            <a:ext cx="493776" cy="49377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52144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78992" y="9966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Quality Dependency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36245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output quality is capped by what's in the uploaded files. Poor or sparse documents yield weak responses.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1947672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1947672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8912" y="2112264"/>
            <a:ext cx="493776" cy="493776"/>
          </a:xfrm>
          <a:prstGeom prst="ellipse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139696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78992" y="1984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Shallow Answer Matching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78992" y="2350008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grading uses simple heuristics. Semantically equivalent answers can be wrongly marked incorrect.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" y="2935224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74320" y="2935224"/>
            <a:ext cx="64008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38912" y="3099816"/>
            <a:ext cx="493776" cy="493776"/>
          </a:xfrm>
          <a:prstGeom prst="ellipse">
            <a:avLst/>
          </a:prstGeom>
          <a:solidFill>
            <a:srgbClr val="64748B">
              <a:alpha val="55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127248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78992" y="2971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Analytics Dashboard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78992" y="3337560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cohort-level view for instructors yet — only per-student score data is visible today.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74320" y="3922776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274320" y="3922776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38912" y="4087368"/>
            <a:ext cx="493776" cy="49377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114800"/>
            <a:ext cx="420624" cy="4206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78992" y="3959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Topic-Owner Consistency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078992" y="4325112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topic or owner metadata is inconsistent, the retrieval routing can fail silently and return empty context.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is understood and has a clear mitigation path — see Future Work.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005840"/>
            <a:ext cx="658368" cy="658368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042416"/>
            <a:ext cx="585216" cy="5852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Grading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matching with embedding-based semantic similarity and rubric-aware scoring.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18688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36008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36008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28416" y="1005840"/>
            <a:ext cx="658368" cy="658368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042416"/>
            <a:ext cx="585216" cy="5852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10128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Auto-Remediation Plans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28416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quiz grading, automatically generate per-student study plans targeting identified weak concepts.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63056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580376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580376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272784" y="1005840"/>
            <a:ext cx="658368" cy="658368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42416"/>
            <a:ext cx="585216" cy="5852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54496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 Analytics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72784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dashboards: concept mastery trends, at-risk student flags, per-question difficulty.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1691640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69164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84048" y="3017520"/>
            <a:ext cx="658368" cy="658368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054096"/>
            <a:ext cx="585216" cy="58521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65760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Integration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38404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Canvas / Moodle API integration for quiz sync, grade passback, and roster management.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218688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4636008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4636008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328416" y="3017520"/>
            <a:ext cx="658368" cy="658368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054096"/>
            <a:ext cx="585216" cy="58521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310128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Stronger Agent Memory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3328416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student profiles with learning history so agents personalize across multiple sessions.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63056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7580376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7580376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272784" y="3017520"/>
            <a:ext cx="658368" cy="658368"/>
          </a:xfrm>
          <a:prstGeom prst="ellipse">
            <a:avLst/>
          </a:prstGeom>
          <a:solidFill>
            <a:srgbClr val="34D399">
              <a:alpha val="5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054096"/>
            <a:ext cx="585216" cy="58521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254496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Quiz Difficulty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272784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adjust question difficulty based on student performance history and concept mastery.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65760"/>
            <a:ext cx="822960" cy="822960"/>
          </a:xfrm>
          <a:prstGeom prst="ellipse">
            <a:avLst/>
          </a:prstGeom>
          <a:solidFill>
            <a:srgbClr val="059669">
              <a:alpha val="45000"/>
            </a:srgbClr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228600"/>
            <a:ext cx="548640" cy="548640"/>
          </a:xfrm>
          <a:prstGeom prst="ellipse">
            <a:avLst/>
          </a:prstGeom>
          <a:solidFill>
            <a:srgbClr val="0D9488">
              <a:alpha val="4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0" y="685800"/>
            <a:ext cx="694944" cy="694944"/>
          </a:xfrm>
          <a:prstGeom prst="ellipse">
            <a:avLst/>
          </a:prstGeom>
          <a:solidFill>
            <a:srgbClr val="10B981">
              <a:alpha val="3500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0" y="960120"/>
            <a:ext cx="585216" cy="585216"/>
          </a:xfrm>
          <a:prstGeom prst="ellipse">
            <a:avLst/>
          </a:prstGeom>
          <a:solidFill>
            <a:srgbClr val="34D399">
              <a:alpha val="30000"/>
            </a:srgbClr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95360" y="1417320"/>
            <a:ext cx="512064" cy="512064"/>
          </a:xfrm>
          <a:prstGeom prst="ellipse">
            <a:avLst/>
          </a:prstGeom>
          <a:solidFill>
            <a:srgbClr val="0D9488">
              <a:alpha val="35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868680" cy="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38160" y="502920"/>
            <a:ext cx="621792" cy="530352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269480" y="777240"/>
            <a:ext cx="429768" cy="475488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59952" y="1033272"/>
            <a:ext cx="91440" cy="64008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99248" y="1252728"/>
            <a:ext cx="1152144" cy="420624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429768"/>
            <a:ext cx="694944" cy="6949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828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365760" y="987552"/>
            <a:ext cx="5029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114300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1480" y="1234440"/>
            <a:ext cx="621792" cy="621792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1271016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70432" y="1179576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GenAI — not just a chatbot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70432" y="152704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combines RAG grounding, multi-agent routing, and role-aware workflows into a coherent educational system.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2075688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74320" y="207568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11480" y="2167128"/>
            <a:ext cx="621792" cy="621792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2203704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70432" y="2112264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closed loop is the differentiator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170432" y="245973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from: assign a quiz → get a score, to: assign → submit → explain → remediate → plan — is what makes this a learning tool, not just a quiz tool.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74320" y="3008376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274320" y="3008376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11480" y="3099816"/>
            <a:ext cx="621792" cy="621792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136392"/>
            <a:ext cx="548640" cy="5486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70432" y="30449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makes GenAI trustworthy in education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170432" y="339242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RAG, LLM responses are unreliable in course-specific contexts. Retrieval anchors every answer to actual instructional material.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74320" y="3941064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274320" y="3941064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411480" y="4032504"/>
            <a:ext cx="621792" cy="621792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4069080"/>
            <a:ext cx="548640" cy="5486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70432" y="397764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foundation for adaptive learning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170432" y="432511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on semantic grading, auto-remediation, and analytics turns ScholarAI into a full adaptive learning platform.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GenAI Class Project  ·  RAG + Multi-Agent Learning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Microsoft Macintosh PowerPoint</Application>
  <PresentationFormat>On-screen Show (16:9)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ScholarAI — RAG + Multi-Agent Learning Platform</dc:title>
  <dc:subject>PptxGenJS Presentation</dc:subject>
  <dc:creator>PptxGenJS</dc:creator>
  <cp:lastModifiedBy>Kiran Khatri</cp:lastModifiedBy>
  <cp:revision>1</cp:revision>
  <dcterms:created xsi:type="dcterms:W3CDTF">2026-05-13T06:46:19Z</dcterms:created>
  <dcterms:modified xsi:type="dcterms:W3CDTF">2026-05-13T06:48:25Z</dcterms:modified>
</cp:coreProperties>
</file>