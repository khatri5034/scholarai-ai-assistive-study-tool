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8113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12.png"/><Relationship Id="rId10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2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675120" y="320040"/>
            <a:ext cx="822960" cy="822960"/>
          </a:xfrm>
          <a:prstGeom prst="ellipse">
            <a:avLst/>
          </a:prstGeom>
          <a:solidFill>
            <a:srgbClr val="059669">
              <a:alpha val="45000"/>
            </a:srgbClr>
          </a:solidFill>
          <a:ln w="1524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0" y="182880"/>
            <a:ext cx="548640" cy="548640"/>
          </a:xfrm>
          <a:prstGeom prst="ellipse">
            <a:avLst/>
          </a:prstGeom>
          <a:solidFill>
            <a:srgbClr val="0D9488">
              <a:alpha val="40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0" y="640080"/>
            <a:ext cx="694944" cy="694944"/>
          </a:xfrm>
          <a:prstGeom prst="ellipse">
            <a:avLst/>
          </a:prstGeom>
          <a:solidFill>
            <a:srgbClr val="10B981">
              <a:alpha val="35000"/>
            </a:srgbClr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23760" y="914400"/>
            <a:ext cx="585216" cy="585216"/>
          </a:xfrm>
          <a:prstGeom prst="ellipse">
            <a:avLst/>
          </a:prstGeom>
          <a:solidFill>
            <a:srgbClr val="34D399">
              <a:alpha val="30000"/>
            </a:srgbClr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412480" y="1371600"/>
            <a:ext cx="512064" cy="512064"/>
          </a:xfrm>
          <a:prstGeom prst="ellipse">
            <a:avLst/>
          </a:prstGeom>
          <a:solidFill>
            <a:srgbClr val="0D9488">
              <a:alpha val="35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86600" y="731520"/>
            <a:ext cx="868680" cy="0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55280" y="457200"/>
            <a:ext cx="621792" cy="530352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086600" y="731520"/>
            <a:ext cx="429768" cy="475488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577072" y="987552"/>
            <a:ext cx="91440" cy="640080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516368" y="1207008"/>
            <a:ext cx="1152144" cy="420624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384048"/>
            <a:ext cx="694944" cy="6949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" y="7772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ScholarAI</a:t>
            </a:r>
            <a:endParaRPr lang="en-US" sz="5800" dirty="0"/>
          </a:p>
        </p:txBody>
      </p:sp>
      <p:sp>
        <p:nvSpPr>
          <p:cNvPr id="15" name="Text 12"/>
          <p:cNvSpPr/>
          <p:nvPr/>
        </p:nvSpPr>
        <p:spPr>
          <a:xfrm>
            <a:off x="365760" y="17830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Multi-Agent Assistive Learning Platform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65760" y="2487168"/>
            <a:ext cx="50292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5760" y="26060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grounded GenAI system that closes the loop between quiz scores and personalized adaptive learning — using retrieval-augmented generation and multi-agent orchestration.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365760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801368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D9488">
              <a:alpha val="4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801368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36976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3B82F6">
              <a:alpha val="4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236976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72584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8B5CF6">
              <a:alpha val="4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672584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08192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59E0B">
              <a:alpha val="4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108192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543800" y="3977640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059669">
              <a:alpha val="45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543800" y="397764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18288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37160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146304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65176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274320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393192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402336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21208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30352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49224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658368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7772400" y="4928616"/>
            <a:ext cx="9144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863840" y="475488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This Problem Matter?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2743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98755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72%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777240" y="1810512"/>
            <a:ext cx="1828800" cy="2743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" y="1883664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report not understanding why they got quiz answers wrong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64408" y="914400"/>
            <a:ext cx="2743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EF4444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64408" y="98755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1:30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3721608" y="1810512"/>
            <a:ext cx="1828800" cy="27432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74136" y="1883664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instructor-to-student ratio makes individual feedback impossible at scale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08776" y="914400"/>
            <a:ext cx="2743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08776" y="987552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5200" dirty="0"/>
          </a:p>
        </p:txBody>
      </p:sp>
      <p:sp>
        <p:nvSpPr>
          <p:cNvPr id="18" name="Shape 16"/>
          <p:cNvSpPr/>
          <p:nvPr/>
        </p:nvSpPr>
        <p:spPr>
          <a:xfrm>
            <a:off x="6665976" y="1810512"/>
            <a:ext cx="1828800" cy="27432"/>
          </a:xfrm>
          <a:prstGeom prst="rect">
            <a:avLst/>
          </a:prstGeom>
          <a:solidFill>
            <a:srgbClr val="34D399">
              <a:alpha val="7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18504" y="1883664"/>
            <a:ext cx="252374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retention when students receive personalized explanations vs. grades alone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0175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Core Pain Points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3429000"/>
            <a:ext cx="27432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520440"/>
            <a:ext cx="502920" cy="5029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05840" y="3456432"/>
            <a:ext cx="19385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receive quiz scores but get no guided path to fix misconceptions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64408" y="3429000"/>
            <a:ext cx="27432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3520440"/>
            <a:ext cx="502920" cy="5029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950208" y="3456432"/>
            <a:ext cx="19385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can't scale per-student feedback — manual workflows break past ~30 students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208776" y="3429000"/>
            <a:ext cx="274320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3520440"/>
            <a:ext cx="502920" cy="5029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894576" y="3456432"/>
            <a:ext cx="1938528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LLMs hallucinate or give generic answers not grounded in course content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Others Are Doing — And Where They Fall Short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420624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64008" cy="18105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051560"/>
            <a:ext cx="594360" cy="5943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70432" y="9875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Static LLM Tutors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70432" y="13533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ChatGPT, Khanmigo, Socratic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2336" y="1664208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Answer student questions in natural language using a general-purpose LLM.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02336" y="2103120"/>
            <a:ext cx="3950208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17627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86384" y="21031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Not grounded in course-specific material. No quiz workflow. No instructor role.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09160" y="914400"/>
            <a:ext cx="420624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709160" y="914400"/>
            <a:ext cx="64008" cy="18105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051560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605272" y="98755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RAG-Only Systems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605272" y="135331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LlamaIndex apps, custom chatbots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837176" y="1664208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Retrieve context from documents and inject into prompts for grounded Q&amp;A.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837176" y="2103120"/>
            <a:ext cx="3950208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176272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21224" y="2103120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Single-mode: only Q&amp;A. No agents, no assessment loop, no role differentiation.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274320" y="2907792"/>
            <a:ext cx="420624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274320" y="2907792"/>
            <a:ext cx="64008" cy="18105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044952"/>
            <a:ext cx="594360" cy="5943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170432" y="2980944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 Quiz Tools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170432" y="334670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Canvas, Moodle, Google Forms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02336" y="3657600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Assign and grade quizzes. Track scores. Manage submissions at scale.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402336" y="4096512"/>
            <a:ext cx="3950208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4169664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86384" y="409651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AI explanations. No adaptive feedback. Score is the end of the loop.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4709160" y="2907792"/>
            <a:ext cx="4206240" cy="1810512"/>
          </a:xfrm>
          <a:prstGeom prst="rect">
            <a:avLst/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4709160" y="2907792"/>
            <a:ext cx="64008" cy="18105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3044952"/>
            <a:ext cx="594360" cy="59436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605272" y="2980944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Frameworks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5605272" y="3346704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Who: AutoGPT, LangGraph, CrewAI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4837176" y="3657600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Does: Multi-agent orchestration for complex workflows using LLM tool-calling.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4837176" y="4096512"/>
            <a:ext cx="3950208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4169664"/>
            <a:ext cx="292608" cy="29260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221224" y="4096512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General-purpose — not tailored to education, assessment, or grounding.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ScholarAI: Combining the Best of All Worlds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8595360" cy="713232"/>
          </a:xfrm>
          <a:prstGeom prst="rect">
            <a:avLst/>
          </a:prstGeom>
          <a:solidFill>
            <a:srgbClr val="059669">
              <a:alpha val="35000"/>
            </a:srgbClr>
          </a:solidFill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78408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896112"/>
            <a:ext cx="7635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unify RAG grounding + multi-agent task routing + role-aware assessment workflows in a single platform.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4320" y="1719072"/>
            <a:ext cx="8595360" cy="402336"/>
          </a:xfrm>
          <a:prstGeom prst="rect">
            <a:avLst/>
          </a:prstGeom>
          <a:solidFill>
            <a:srgbClr val="0F172A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5760" y="1719072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80560" y="17190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Others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09360" y="171907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ScholarAI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176272"/>
            <a:ext cx="8595360" cy="475488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2176272"/>
            <a:ext cx="54864" cy="47548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38912" y="2176272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(RAG)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480560" y="217627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/ partial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46520" y="2249424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45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46520" y="22494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Full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74320" y="2706624"/>
            <a:ext cx="8595360" cy="475488"/>
          </a:xfrm>
          <a:prstGeom prst="rect">
            <a:avLst/>
          </a:prstGeom>
          <a:solidFill>
            <a:srgbClr val="0F172A"/>
          </a:solidFill>
          <a:ln w="381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274320" y="2706624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38912" y="2706624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task routing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480560" y="27066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446520" y="2779776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0D9488">
              <a:alpha val="45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446520" y="277977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modes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" y="3236976"/>
            <a:ext cx="8595360" cy="475488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74320" y="3236976"/>
            <a:ext cx="54864" cy="4754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38912" y="3236976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(Prof + Student)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480560" y="323697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6446520" y="3310128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3B82F6">
              <a:alpha val="45000"/>
            </a:srgbClr>
          </a:solidFill>
          <a:ln w="101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446520" y="331012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74320" y="3767328"/>
            <a:ext cx="8595360" cy="475488"/>
          </a:xfrm>
          <a:prstGeom prst="rect">
            <a:avLst/>
          </a:prstGeom>
          <a:solidFill>
            <a:srgbClr val="0F172A"/>
          </a:solidFill>
          <a:ln w="381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274320" y="3767328"/>
            <a:ext cx="54864" cy="4754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438912" y="3767328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assign → grade → explain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480560" y="37673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446520" y="3840480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8B5CF6">
              <a:alpha val="45000"/>
            </a:srgbClr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446520" y="38404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Loop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274320" y="4297680"/>
            <a:ext cx="8595360" cy="475488"/>
          </a:xfrm>
          <a:prstGeom prst="rect">
            <a:avLst/>
          </a:prstGeom>
          <a:solidFill>
            <a:srgbClr val="1E293B"/>
          </a:solidFill>
          <a:ln w="381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274320" y="4297680"/>
            <a:ext cx="54864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8"/>
          <p:cNvSpPr/>
          <p:nvPr/>
        </p:nvSpPr>
        <p:spPr>
          <a:xfrm>
            <a:off x="438912" y="4297680"/>
            <a:ext cx="3977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study plans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480560" y="42976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446520" y="4370832"/>
            <a:ext cx="1280160" cy="329184"/>
          </a:xfrm>
          <a:prstGeom prst="roundRect">
            <a:avLst>
              <a:gd name="adj" fmla="val 16667"/>
            </a:avLst>
          </a:prstGeom>
          <a:solidFill>
            <a:srgbClr val="F59E0B">
              <a:alpha val="45000"/>
            </a:srgbClr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6446520" y="437083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AI-gen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 Overview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822960"/>
            <a:ext cx="2651760" cy="39776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822960"/>
            <a:ext cx="2651760" cy="411480"/>
          </a:xfrm>
          <a:prstGeom prst="rect">
            <a:avLst/>
          </a:prstGeom>
          <a:solidFill>
            <a:srgbClr val="059669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28600" y="8229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Layer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1371600"/>
            <a:ext cx="502920" cy="50292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408176"/>
            <a:ext cx="429768" cy="42976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35508" y="1874520"/>
            <a:ext cx="0" cy="246888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0584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Upload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05840" y="1627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+ personal files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84048" y="2121408"/>
            <a:ext cx="502920" cy="50292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2157984"/>
            <a:ext cx="429768" cy="42976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35508" y="2624328"/>
            <a:ext cx="0" cy="246888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1005840" y="21214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Chunk &amp; Embed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005840" y="23774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per topic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84048" y="2871216"/>
            <a:ext cx="502920" cy="50292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2907792"/>
            <a:ext cx="429768" cy="42976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35508" y="3374136"/>
            <a:ext cx="0" cy="246888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1005840" y="2871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005840" y="3127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relevant chunks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84048" y="3621024"/>
            <a:ext cx="502920" cy="502920"/>
          </a:xfrm>
          <a:prstGeom prst="ellipse">
            <a:avLst/>
          </a:prstGeom>
          <a:solidFill>
            <a:srgbClr val="059669">
              <a:alpha val="6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657600"/>
            <a:ext cx="429768" cy="4297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05840" y="36210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Injection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05840" y="38770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agent prompt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154680" y="822960"/>
            <a:ext cx="2834640" cy="397764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5"/>
          <p:cNvSpPr/>
          <p:nvPr/>
        </p:nvSpPr>
        <p:spPr>
          <a:xfrm>
            <a:off x="3154680" y="822960"/>
            <a:ext cx="2834640" cy="41148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3154680" y="8229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Router</a:t>
            </a:r>
            <a:endParaRPr lang="en-US" sz="130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1371600"/>
            <a:ext cx="914400" cy="9144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291840" y="23317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 Detection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3246120" y="2834640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2916936"/>
            <a:ext cx="438912" cy="43891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776472" y="283464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4617720" y="2834640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1728" y="2916936"/>
            <a:ext cx="438912" cy="43891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148072" y="2834640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3246120" y="3584448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10128" y="3666744"/>
            <a:ext cx="438912" cy="438912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3776472" y="3584448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4617720" y="3584448"/>
            <a:ext cx="1234440" cy="621792"/>
          </a:xfrm>
          <a:prstGeom prst="roundRect">
            <a:avLst>
              <a:gd name="adj" fmla="val 11765"/>
            </a:avLst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3666744"/>
            <a:ext cx="438912" cy="438912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148072" y="3584448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200" dirty="0"/>
          </a:p>
        </p:txBody>
      </p:sp>
      <p:sp>
        <p:nvSpPr>
          <p:cNvPr id="47" name="Shape 36"/>
          <p:cNvSpPr/>
          <p:nvPr/>
        </p:nvSpPr>
        <p:spPr>
          <a:xfrm>
            <a:off x="6217920" y="822960"/>
            <a:ext cx="2743200" cy="18288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37"/>
          <p:cNvSpPr/>
          <p:nvPr/>
        </p:nvSpPr>
        <p:spPr>
          <a:xfrm>
            <a:off x="6217920" y="822960"/>
            <a:ext cx="2743200" cy="411480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38"/>
          <p:cNvSpPr/>
          <p:nvPr/>
        </p:nvSpPr>
        <p:spPr>
          <a:xfrm>
            <a:off x="6217920" y="822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3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1325880"/>
            <a:ext cx="548640" cy="548640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7150608" y="135331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</a:t>
            </a:r>
            <a:endParaRPr lang="en-US" sz="1200" dirty="0"/>
          </a:p>
        </p:txBody>
      </p:sp>
      <p:sp>
        <p:nvSpPr>
          <p:cNvPr id="52" name="Text 40"/>
          <p:cNvSpPr/>
          <p:nvPr/>
        </p:nvSpPr>
        <p:spPr>
          <a:xfrm>
            <a:off x="7150608" y="16002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UI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(Prof / Student)</a:t>
            </a:r>
            <a:endParaRPr lang="en-US" sz="1000" dirty="0"/>
          </a:p>
        </p:txBody>
      </p:sp>
      <p:sp>
        <p:nvSpPr>
          <p:cNvPr id="53" name="Shape 41"/>
          <p:cNvSpPr/>
          <p:nvPr/>
        </p:nvSpPr>
        <p:spPr>
          <a:xfrm>
            <a:off x="6217920" y="2880360"/>
            <a:ext cx="2743200" cy="192024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2"/>
          <p:cNvSpPr/>
          <p:nvPr/>
        </p:nvSpPr>
        <p:spPr>
          <a:xfrm>
            <a:off x="6217920" y="2880360"/>
            <a:ext cx="2743200" cy="411480"/>
          </a:xfrm>
          <a:prstGeom prst="rect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3"/>
          <p:cNvSpPr/>
          <p:nvPr/>
        </p:nvSpPr>
        <p:spPr>
          <a:xfrm>
            <a:off x="621792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Layer</a:t>
            </a:r>
            <a:endParaRPr lang="en-US" sz="1300" dirty="0"/>
          </a:p>
        </p:txBody>
      </p:sp>
      <p:pic>
        <p:nvPicPr>
          <p:cNvPr id="56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3429000"/>
            <a:ext cx="438912" cy="438912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6858000" y="3429000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Firestore</a:t>
            </a:r>
            <a:endParaRPr lang="en-US" sz="1100" dirty="0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087368"/>
            <a:ext cx="438912" cy="438912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6858000" y="4087368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(topic-owner)</a:t>
            </a:r>
            <a:endParaRPr lang="en-US" sz="1100" dirty="0"/>
          </a:p>
        </p:txBody>
      </p:sp>
      <p:sp>
        <p:nvSpPr>
          <p:cNvPr id="60" name="Shape 46"/>
          <p:cNvSpPr/>
          <p:nvPr/>
        </p:nvSpPr>
        <p:spPr>
          <a:xfrm>
            <a:off x="2880360" y="2834640"/>
            <a:ext cx="256032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47"/>
          <p:cNvSpPr/>
          <p:nvPr/>
        </p:nvSpPr>
        <p:spPr>
          <a:xfrm>
            <a:off x="3072384" y="2743200"/>
            <a:ext cx="201168" cy="20116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48"/>
          <p:cNvSpPr/>
          <p:nvPr/>
        </p:nvSpPr>
        <p:spPr>
          <a:xfrm>
            <a:off x="5989320" y="2651760"/>
            <a:ext cx="201168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49"/>
          <p:cNvSpPr/>
          <p:nvPr/>
        </p:nvSpPr>
        <p:spPr>
          <a:xfrm>
            <a:off x="6126480" y="256032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Full Learning Loop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097280"/>
            <a:ext cx="1298448" cy="411480"/>
          </a:xfrm>
          <a:prstGeom prst="rect">
            <a:avLst/>
          </a:prstGeom>
          <a:solidFill>
            <a:srgbClr val="3B82F6">
              <a:alpha val="5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45920"/>
            <a:ext cx="694944" cy="6949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74320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Upload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38328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 uploads course docs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572768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1591056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682496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1682496" y="1097280"/>
            <a:ext cx="1298448" cy="411480"/>
          </a:xfrm>
          <a:prstGeom prst="rect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682496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4248" y="1645920"/>
            <a:ext cx="694944" cy="69494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682496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Quiz Create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746504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MCQ/short-answer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2980944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2999232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3090672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3090672" y="1097280"/>
            <a:ext cx="1298448" cy="411480"/>
          </a:xfrm>
          <a:prstGeom prst="rect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090672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1645920"/>
            <a:ext cx="694944" cy="6949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090672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Submit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3154680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answers in-platform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4389120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4407408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4498848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4498848" y="1097280"/>
            <a:ext cx="1298448" cy="411480"/>
          </a:xfrm>
          <a:prstGeom prst="rect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4498848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1645920"/>
            <a:ext cx="694944" cy="69494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498848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Auto-Grade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562856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against answer key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5797296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3"/>
          <p:cNvSpPr/>
          <p:nvPr/>
        </p:nvSpPr>
        <p:spPr>
          <a:xfrm>
            <a:off x="5815584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4"/>
          <p:cNvSpPr/>
          <p:nvPr/>
        </p:nvSpPr>
        <p:spPr>
          <a:xfrm>
            <a:off x="5907024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5907024" y="1097280"/>
            <a:ext cx="1298448" cy="411480"/>
          </a:xfrm>
          <a:prstGeom prst="rect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6"/>
          <p:cNvSpPr/>
          <p:nvPr/>
        </p:nvSpPr>
        <p:spPr>
          <a:xfrm>
            <a:off x="5907024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8776" y="1645920"/>
            <a:ext cx="694944" cy="69494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907024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5971032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explains each answer</a:t>
            </a:r>
            <a:endParaRPr lang="en-US" sz="1050" dirty="0"/>
          </a:p>
        </p:txBody>
      </p:sp>
      <p:sp>
        <p:nvSpPr>
          <p:cNvPr id="46" name="Shape 39"/>
          <p:cNvSpPr/>
          <p:nvPr/>
        </p:nvSpPr>
        <p:spPr>
          <a:xfrm>
            <a:off x="7205472" y="2560320"/>
            <a:ext cx="109728" cy="0"/>
          </a:xfrm>
          <a:prstGeom prst="line">
            <a:avLst/>
          </a:prstGeom>
          <a:noFill/>
          <a:ln w="2286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0"/>
          <p:cNvSpPr/>
          <p:nvPr/>
        </p:nvSpPr>
        <p:spPr>
          <a:xfrm>
            <a:off x="7223760" y="2487168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1"/>
          <p:cNvSpPr/>
          <p:nvPr/>
        </p:nvSpPr>
        <p:spPr>
          <a:xfrm>
            <a:off x="7315200" y="1097280"/>
            <a:ext cx="1298448" cy="3200400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  <a:prstDash val="solid"/>
          </a:ln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7315200" y="1097280"/>
            <a:ext cx="1298448" cy="411480"/>
          </a:xfrm>
          <a:prstGeom prst="rect">
            <a:avLst/>
          </a:prstGeom>
          <a:solidFill>
            <a:srgbClr val="34D399">
              <a:alpha val="5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3"/>
          <p:cNvSpPr/>
          <p:nvPr/>
        </p:nvSpPr>
        <p:spPr>
          <a:xfrm>
            <a:off x="7315200" y="1097280"/>
            <a:ext cx="12984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pic>
        <p:nvPicPr>
          <p:cNvPr id="5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6952" y="1645920"/>
            <a:ext cx="694944" cy="694944"/>
          </a:xfrm>
          <a:prstGeom prst="rect">
            <a:avLst/>
          </a:prstGeom>
        </p:spPr>
      </p:pic>
      <p:sp>
        <p:nvSpPr>
          <p:cNvPr id="52" name="Text 44"/>
          <p:cNvSpPr/>
          <p:nvPr/>
        </p:nvSpPr>
        <p:spPr>
          <a:xfrm>
            <a:off x="7315200" y="246888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 Plan</a:t>
            </a:r>
            <a:endParaRPr lang="en-US" sz="1300" dirty="0"/>
          </a:p>
        </p:txBody>
      </p:sp>
      <p:sp>
        <p:nvSpPr>
          <p:cNvPr id="53" name="Text 45"/>
          <p:cNvSpPr/>
          <p:nvPr/>
        </p:nvSpPr>
        <p:spPr>
          <a:xfrm>
            <a:off x="7379208" y="2880360"/>
            <a:ext cx="11704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remediation</a:t>
            </a:r>
            <a:endParaRPr lang="en-US" sz="1050" dirty="0"/>
          </a:p>
        </p:txBody>
      </p:sp>
      <p:sp>
        <p:nvSpPr>
          <p:cNvPr id="54" name="Shape 46"/>
          <p:cNvSpPr/>
          <p:nvPr/>
        </p:nvSpPr>
        <p:spPr>
          <a:xfrm>
            <a:off x="274320" y="4462272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059669">
              <a:alpha val="40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47"/>
          <p:cNvSpPr/>
          <p:nvPr/>
        </p:nvSpPr>
        <p:spPr>
          <a:xfrm>
            <a:off x="274320" y="44622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RAG-grounded (steps 1–3)</a:t>
            </a:r>
            <a:endParaRPr lang="en-US" sz="1050" dirty="0"/>
          </a:p>
        </p:txBody>
      </p:sp>
      <p:sp>
        <p:nvSpPr>
          <p:cNvPr id="56" name="Shape 48"/>
          <p:cNvSpPr/>
          <p:nvPr/>
        </p:nvSpPr>
        <p:spPr>
          <a:xfrm>
            <a:off x="4800600" y="4462272"/>
            <a:ext cx="4069080" cy="384048"/>
          </a:xfrm>
          <a:prstGeom prst="roundRect">
            <a:avLst>
              <a:gd name="adj" fmla="val 14286"/>
            </a:avLst>
          </a:prstGeom>
          <a:solidFill>
            <a:srgbClr val="0D9488">
              <a:alpha val="40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49"/>
          <p:cNvSpPr/>
          <p:nvPr/>
        </p:nvSpPr>
        <p:spPr>
          <a:xfrm>
            <a:off x="4800600" y="446227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Agentic pipeline (steps 4–6)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Evaluated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4251960" cy="1993392"/>
          </a:xfrm>
          <a:prstGeom prst="rect">
            <a:avLst/>
          </a:prstGeom>
          <a:solidFill>
            <a:srgbClr val="1E293B"/>
          </a:solidFill>
          <a:ln w="1651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069848"/>
            <a:ext cx="731520" cy="731520"/>
          </a:xfrm>
          <a:prstGeom prst="ellipse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106424"/>
            <a:ext cx="658368" cy="6583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1872" y="9601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Groundedness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02336" y="185623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 responses stay within the uploaded document context?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02336" y="224028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Manually compare model output vs. retrieved chunks. Check for off-context fabrication.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234440" y="1371600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10B981">
              <a:alpha val="30000"/>
            </a:srgbClr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234440" y="13716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% responses citing retrieved material vs. hallucinated claims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36592" y="868680"/>
            <a:ext cx="4251960" cy="1993392"/>
          </a:xfrm>
          <a:prstGeom prst="rect">
            <a:avLst/>
          </a:prstGeom>
          <a:solidFill>
            <a:srgbClr val="1E293B"/>
          </a:solidFill>
          <a:ln w="1651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873752" y="1069848"/>
            <a:ext cx="731520" cy="731520"/>
          </a:xfrm>
          <a:prstGeom prst="ellipse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106424"/>
            <a:ext cx="658368" cy="6583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724144" y="9601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Completion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64608" y="185623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the full assign → submit → review loop complete reliably?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864608" y="224028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End-to-end workflow trace: professor assigns, student submits, auto-grade fires, results visible.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696712" y="1371600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0D9488">
              <a:alpha val="30000"/>
            </a:srgbClr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696712" y="137160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% end-to-end runs completing without error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274320" y="3017520"/>
            <a:ext cx="4251960" cy="1993392"/>
          </a:xfrm>
          <a:prstGeom prst="rect">
            <a:avLst/>
          </a:prstGeom>
          <a:solidFill>
            <a:srgbClr val="1E293B"/>
          </a:solidFill>
          <a:ln w="1651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11480" y="3218688"/>
            <a:ext cx="731520" cy="731520"/>
          </a:xfrm>
          <a:prstGeom prst="ellipse">
            <a:avLst/>
          </a:prstGeom>
          <a:solidFill>
            <a:srgbClr val="3B82F6">
              <a:alpha val="5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3255264"/>
            <a:ext cx="658368" cy="6583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61872" y="31089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Usability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402336" y="400507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Can real users operate both professor and student flows in real time?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02336" y="438912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Role-based walkthrough with test users. Measure time-to-complete per task.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1234440" y="3520440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3B82F6">
              <a:alpha val="30000"/>
            </a:srgbClr>
          </a:solidFill>
          <a:ln w="101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1234440" y="352044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Task completion rate, time-on-task per workflow step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4736592" y="3017520"/>
            <a:ext cx="4251960" cy="1993392"/>
          </a:xfrm>
          <a:prstGeom prst="rect">
            <a:avLst/>
          </a:prstGeom>
          <a:solidFill>
            <a:srgbClr val="1E293B"/>
          </a:solidFill>
          <a:ln w="1651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4873752" y="3218688"/>
            <a:ext cx="731520" cy="731520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255264"/>
            <a:ext cx="658368" cy="65836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724144" y="31089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4864608" y="4005072"/>
            <a:ext cx="398678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Does the system handle edge cases (missing topics, auth, fallbacks)?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864608" y="4389120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Inject failure conditions: missing topic, bad owner resolution, empty retrieval.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5696712" y="3520440"/>
            <a:ext cx="3154680" cy="347472"/>
          </a:xfrm>
          <a:prstGeom prst="roundRect">
            <a:avLst>
              <a:gd name="adj" fmla="val 13158"/>
            </a:avLst>
          </a:prstGeom>
          <a:solidFill>
            <a:srgbClr val="8B5CF6">
              <a:alpha val="30000"/>
            </a:srgbClr>
          </a:solidFill>
          <a:ln w="1016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5696712" y="352044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Fallback trigger rate, graceful error handling %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Behavior &amp; Key Findings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274320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93268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4400" dirty="0"/>
          </a:p>
        </p:txBody>
      </p:sp>
      <p:sp>
        <p:nvSpPr>
          <p:cNvPr id="10" name="Shape 8"/>
          <p:cNvSpPr/>
          <p:nvPr/>
        </p:nvSpPr>
        <p:spPr>
          <a:xfrm>
            <a:off x="731520" y="1600200"/>
            <a:ext cx="1828800" cy="27432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645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loop completes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consistently in all test scenarios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8688" y="868680"/>
            <a:ext cx="274320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18688" y="93268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3675888" y="1600200"/>
            <a:ext cx="1828800" cy="27432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0128" y="1645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Q&amp;A responses grounded in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docs — no hallucinations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868680"/>
            <a:ext cx="2743200" cy="160020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63056" y="932688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2×</a:t>
            </a:r>
            <a:endParaRPr lang="en-US" sz="4400" dirty="0"/>
          </a:p>
        </p:txBody>
      </p:sp>
      <p:sp>
        <p:nvSpPr>
          <p:cNvPr id="18" name="Shape 16"/>
          <p:cNvSpPr/>
          <p:nvPr/>
        </p:nvSpPr>
        <p:spPr>
          <a:xfrm>
            <a:off x="6620256" y="1600200"/>
            <a:ext cx="1828800" cy="27432"/>
          </a:xfrm>
          <a:prstGeom prst="rect">
            <a:avLst/>
          </a:prstGeom>
          <a:solidFill>
            <a:srgbClr val="3B82F6">
              <a:alpha val="6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54496" y="1645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fully separated — Prof and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workflows operate in 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6517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Behavioral Findings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063240"/>
            <a:ext cx="4251960" cy="685800"/>
          </a:xfrm>
          <a:prstGeom prst="rect">
            <a:avLst/>
          </a:prstGeom>
          <a:solidFill>
            <a:srgbClr val="0F172A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54864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182112"/>
            <a:ext cx="438912" cy="43891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69264" y="3063240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freely explore personal topics with their own uploaded files — independent of the course structure.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36592" y="3063240"/>
            <a:ext cx="4251960" cy="685800"/>
          </a:xfrm>
          <a:prstGeom prst="rect">
            <a:avLst/>
          </a:prstGeom>
          <a:solidFill>
            <a:srgbClr val="0F172A"/>
          </a:solidFill>
          <a:ln w="1016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736592" y="306324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3182112"/>
            <a:ext cx="438912" cy="43891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431536" y="3063240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Course-invited students access professor-shared topic files seamlessly; ownership model holds without conflicts.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274320" y="3867912"/>
            <a:ext cx="4251960" cy="685800"/>
          </a:xfrm>
          <a:prstGeom prst="rect">
            <a:avLst/>
          </a:prstGeom>
          <a:solidFill>
            <a:srgbClr val="0F172A"/>
          </a:solidFill>
          <a:ln w="1016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274320" y="3867912"/>
            <a:ext cx="54864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986784"/>
            <a:ext cx="438912" cy="43891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969264" y="3867912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and permission controls maintain full workflow integrity — students can't access or modify professor materials.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736592" y="3867912"/>
            <a:ext cx="4251960" cy="685800"/>
          </a:xfrm>
          <a:prstGeom prst="rect">
            <a:avLst/>
          </a:prstGeom>
          <a:solidFill>
            <a:srgbClr val="0F172A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4736592" y="3867912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986784"/>
            <a:ext cx="438912" cy="43891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431536" y="3867912"/>
            <a:ext cx="3456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heuristic answer matching occasionally misses semantically equivalent responses — known limitation.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Limitations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960120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8912" y="1124712"/>
            <a:ext cx="493776" cy="493776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152144"/>
            <a:ext cx="420624" cy="4206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78992" y="9966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Quality Dependency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78992" y="1362456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output quality is capped by what's in the uploaded files. Poor or sparse documents yield weak responses.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1947672"/>
            <a:ext cx="8595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274320" y="1947672"/>
            <a:ext cx="64008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38912" y="2112264"/>
            <a:ext cx="493776" cy="493776"/>
          </a:xfrm>
          <a:prstGeom prst="ellipse">
            <a:avLst/>
          </a:prstGeom>
          <a:solidFill>
            <a:srgbClr val="EF4444">
              <a:alpha val="5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139696"/>
            <a:ext cx="420624" cy="4206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78992" y="1984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Shallow Answer Matching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1078992" y="2350008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grading uses simple heuristics. Semantically equivalent answers can be wrongly marked incorrect.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74320" y="2935224"/>
            <a:ext cx="8595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274320" y="2935224"/>
            <a:ext cx="64008" cy="8229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38912" y="3099816"/>
            <a:ext cx="493776" cy="493776"/>
          </a:xfrm>
          <a:prstGeom prst="ellipse">
            <a:avLst/>
          </a:prstGeom>
          <a:solidFill>
            <a:srgbClr val="64748B">
              <a:alpha val="55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127248"/>
            <a:ext cx="420624" cy="4206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78992" y="29718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Analytics Dashboard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078992" y="3337560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cohort-level view for instructors yet — only per-student score data is visible today.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274320" y="3922776"/>
            <a:ext cx="859536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274320" y="3922776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438912" y="4087368"/>
            <a:ext cx="493776" cy="493776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4114800"/>
            <a:ext cx="420624" cy="42062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78992" y="39593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Topic-Owner Consistency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078992" y="4325112"/>
            <a:ext cx="7635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topic or owner metadata is inconsistent, the retrieval routing can fail silently and return empty context.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limitation is understood and has a clear mitigation path — see Future Work.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6656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56032" y="109728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59669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56032" y="1097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9144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0" y="491032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RAG + Multi-Agent Learning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74320" y="91440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691640" y="10058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691640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1005840"/>
            <a:ext cx="658368" cy="658368"/>
          </a:xfrm>
          <a:prstGeom prst="ellipse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042416"/>
            <a:ext cx="585216" cy="5852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5760" y="1737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Grading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4048" y="212140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heuristic matching with embedding-based semantic similarity and rubric-aware scoring.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18688" y="91440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36008" y="10058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636008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328416" y="1005840"/>
            <a:ext cx="658368" cy="658368"/>
          </a:xfrm>
          <a:prstGeom prst="ellipse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042416"/>
            <a:ext cx="585216" cy="58521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10128" y="1737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Auto-Remediation Plans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28416" y="212140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quiz grading, automatically generate per-student study plans targeting identified weak concepts.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163056" y="91440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580376" y="100584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7580376" y="1005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6272784" y="1005840"/>
            <a:ext cx="658368" cy="658368"/>
          </a:xfrm>
          <a:prstGeom prst="ellipse">
            <a:avLst/>
          </a:prstGeom>
          <a:solidFill>
            <a:srgbClr val="3B82F6">
              <a:alpha val="5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042416"/>
            <a:ext cx="585216" cy="58521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54496" y="1737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 Analytics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72784" y="212140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Cohort-level dashboards: concept mastery trends, at-risk student flags, per-question difficulty.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274320" y="292608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1691640" y="301752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8B5CF6">
              <a:alpha val="40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1691640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384048" y="3017520"/>
            <a:ext cx="658368" cy="658368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3054096"/>
            <a:ext cx="585216" cy="58521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65760" y="3749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LMS Integration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384048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Canvas / Moodle API integration for quiz sync, grade passback, and roster management.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3218688" y="292608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4636008" y="301752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4636008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900" dirty="0"/>
          </a:p>
        </p:txBody>
      </p:sp>
      <p:sp>
        <p:nvSpPr>
          <p:cNvPr id="39" name="Shape 33"/>
          <p:cNvSpPr/>
          <p:nvPr/>
        </p:nvSpPr>
        <p:spPr>
          <a:xfrm>
            <a:off x="3328416" y="3017520"/>
            <a:ext cx="658368" cy="658368"/>
          </a:xfrm>
          <a:prstGeom prst="ellipse">
            <a:avLst/>
          </a:prstGeom>
          <a:solidFill>
            <a:srgbClr val="F59E0B">
              <a:alpha val="5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3054096"/>
            <a:ext cx="585216" cy="585216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310128" y="3749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Stronger Agent Memory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3328416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student profiles with learning history so agents personalize across multiple sessions.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163056" y="2926080"/>
            <a:ext cx="2743200" cy="1828800"/>
          </a:xfrm>
          <a:prstGeom prst="rect">
            <a:avLst/>
          </a:prstGeom>
          <a:solidFill>
            <a:srgbClr val="0F172A"/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7580376" y="3017520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34D399">
              <a:alpha val="4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7580376" y="3017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6272784" y="3017520"/>
            <a:ext cx="658368" cy="658368"/>
          </a:xfrm>
          <a:prstGeom prst="ellipse">
            <a:avLst/>
          </a:prstGeom>
          <a:solidFill>
            <a:srgbClr val="34D399">
              <a:alpha val="55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054096"/>
            <a:ext cx="585216" cy="585216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254496" y="37490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Quiz Difficulty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6272784" y="4133088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adjust question difficulty based on student performance history and concept mastery.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65760"/>
            <a:ext cx="822960" cy="822960"/>
          </a:xfrm>
          <a:prstGeom prst="ellipse">
            <a:avLst/>
          </a:prstGeom>
          <a:solidFill>
            <a:srgbClr val="059669">
              <a:alpha val="45000"/>
            </a:srgbClr>
          </a:solidFill>
          <a:ln w="1524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0" y="228600"/>
            <a:ext cx="548640" cy="548640"/>
          </a:xfrm>
          <a:prstGeom prst="ellipse">
            <a:avLst/>
          </a:prstGeom>
          <a:solidFill>
            <a:srgbClr val="0D9488">
              <a:alpha val="40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0" y="685800"/>
            <a:ext cx="694944" cy="694944"/>
          </a:xfrm>
          <a:prstGeom prst="ellipse">
            <a:avLst/>
          </a:prstGeom>
          <a:solidFill>
            <a:srgbClr val="10B981">
              <a:alpha val="35000"/>
            </a:srgbClr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06640" y="960120"/>
            <a:ext cx="585216" cy="585216"/>
          </a:xfrm>
          <a:prstGeom prst="ellipse">
            <a:avLst/>
          </a:prstGeom>
          <a:solidFill>
            <a:srgbClr val="34D399">
              <a:alpha val="30000"/>
            </a:srgbClr>
          </a:solidFill>
          <a:ln w="1524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95360" y="1417320"/>
            <a:ext cx="512064" cy="512064"/>
          </a:xfrm>
          <a:prstGeom prst="ellipse">
            <a:avLst/>
          </a:prstGeom>
          <a:solidFill>
            <a:srgbClr val="0D9488">
              <a:alpha val="35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269480" y="777240"/>
            <a:ext cx="868680" cy="0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138160" y="502920"/>
            <a:ext cx="621792" cy="530352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269480" y="777240"/>
            <a:ext cx="429768" cy="475488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59952" y="1033272"/>
            <a:ext cx="91440" cy="640080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99248" y="1252728"/>
            <a:ext cx="1152144" cy="420624"/>
          </a:xfrm>
          <a:prstGeom prst="line">
            <a:avLst/>
          </a:prstGeom>
          <a:noFill/>
          <a:ln w="8890">
            <a:solidFill>
              <a:srgbClr val="34D39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2008" y="429768"/>
            <a:ext cx="694944" cy="69494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" y="1828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15" name="Shape 12"/>
          <p:cNvSpPr/>
          <p:nvPr/>
        </p:nvSpPr>
        <p:spPr>
          <a:xfrm>
            <a:off x="365760" y="987552"/>
            <a:ext cx="50292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74320" y="1143000"/>
            <a:ext cx="8595360" cy="804672"/>
          </a:xfrm>
          <a:prstGeom prst="rect">
            <a:avLst/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74320" y="1143000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11480" y="1234440"/>
            <a:ext cx="621792" cy="621792"/>
          </a:xfrm>
          <a:prstGeom prst="ellipse">
            <a:avLst/>
          </a:prstGeom>
          <a:solidFill>
            <a:srgbClr val="10B981">
              <a:alpha val="5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1271016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170432" y="1179576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Practical GenAI — not just a chatbot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170432" y="1527048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combines RAG grounding, multi-agent routing, and role-aware workflows into a coherent educational system.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74320" y="2075688"/>
            <a:ext cx="8595360" cy="804672"/>
          </a:xfrm>
          <a:prstGeom prst="rect">
            <a:avLst/>
          </a:prstGeom>
          <a:solidFill>
            <a:srgbClr val="1E293B"/>
          </a:solidFill>
          <a:ln w="1524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274320" y="2075688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11480" y="2167128"/>
            <a:ext cx="621792" cy="621792"/>
          </a:xfrm>
          <a:prstGeom prst="ellipse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2203704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170432" y="2112264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closed loop is the differentiator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1170432" y="2459736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from: assign a quiz → get a score, to: assign → submit → explain → remediate → plan — is what makes this a learning tool, not just a quiz tool.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274320" y="3008376"/>
            <a:ext cx="8595360" cy="804672"/>
          </a:xfrm>
          <a:prstGeom prst="rect">
            <a:avLst/>
          </a:prstGeom>
          <a:solidFill>
            <a:srgbClr val="1E293B"/>
          </a:solidFill>
          <a:ln w="15240">
            <a:solidFill>
              <a:srgbClr val="3B82F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274320" y="3008376"/>
            <a:ext cx="64008" cy="8046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11480" y="3099816"/>
            <a:ext cx="621792" cy="621792"/>
          </a:xfrm>
          <a:prstGeom prst="ellipse">
            <a:avLst/>
          </a:prstGeom>
          <a:solidFill>
            <a:srgbClr val="3B82F6">
              <a:alpha val="55000"/>
            </a:srgbClr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" y="3136392"/>
            <a:ext cx="548640" cy="5486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70432" y="304495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Grounding makes GenAI trustworthy in education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170432" y="3392424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RAG, LLM responses are unreliable in course-specific contexts. Retrieval anchors every answer to actual instructional material.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274320" y="3941064"/>
            <a:ext cx="8595360" cy="804672"/>
          </a:xfrm>
          <a:prstGeom prst="rect">
            <a:avLst/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274320" y="3941064"/>
            <a:ext cx="64008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411480" y="4032504"/>
            <a:ext cx="621792" cy="621792"/>
          </a:xfrm>
          <a:prstGeom prst="ellipse">
            <a:avLst/>
          </a:prstGeom>
          <a:solidFill>
            <a:srgbClr val="8B5CF6">
              <a:alpha val="55000"/>
            </a:srgbClr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4069080"/>
            <a:ext cx="548640" cy="5486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170432" y="397764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foundation for adaptive learning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1170432" y="4325112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on semantic grading, auto-remediation, and analytics turns ScholarAI into a full adaptive learning platform.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ScholarAI  ·  GenAI Class Project  ·  RAG + Multi-Agent Learning Platform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1168</Words>
  <Application>Microsoft Macintosh PowerPoint</Application>
  <PresentationFormat>On-screen Show (16:9)</PresentationFormat>
  <Paragraphs>208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ScholarAI — RAG + Multi-Agent Learning Platform</dc:title>
  <dc:subject>PptxGenJS Presentation</dc:subject>
  <dc:creator>PptxGenJS</dc:creator>
  <cp:lastModifiedBy>Kiran Khatri</cp:lastModifiedBy>
  <cp:revision>1</cp:revision>
  <dcterms:created xsi:type="dcterms:W3CDTF">2026-05-08T18:33:23Z</dcterms:created>
  <dcterms:modified xsi:type="dcterms:W3CDTF">2026-05-08T19:23:57Z</dcterms:modified>
</cp:coreProperties>
</file>